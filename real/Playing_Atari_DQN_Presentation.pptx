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817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Sets context before content — names the exact paper (the original DeepMind DQN paper, Dec 2013), its authors and venue, so the audience immediately knows this is the foundational deep-RL paper that first combined CNNs with Q-learning on raw pixels, not a later Nature 2015 follow-up.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Gives the audience a map of the talk before diving in, mirroring the structure the assignment explicitly asked for (objective, techniques, setup, results, limitations, reflection, extra points) so listeners can track where we are throughout.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The assignment explicitly asks for 'the main objective.' This slide states it in the authors' own framing (Abstract, p.1) — learning control policies end-to-end from pixels — and stresses the generality goal (no game-specific tuning), which is the paper's core scientific claim.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Separates 'motivation' from 'objective' as the assignment requests. This is drawn directly from the Introduction (Section 1) and explains the four specific deep-learning-vs-RL tensions the authors call out — this is the intellectual tension the whole paper exists to resolve, so the audience should see it before the solution.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The 'key techniques' the assignment asks about (Q-learning, Bellman updates, function approximation) are meaningless without this foundation from Section 2. Including it lets the audience actually follow how DQN modifies vanilla Q-learning in the next slides, rather than taking it on faith.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This is the centerpiece 'algorithmic approach' the assignment asks for — the actual network (Section 4.1) that turns pixels into action values. The diagram makes the data flow (pixels -&gt; conv features -&gt; Q-values) concrete instead of just describing it in prose, and calls out the single-forward-pass design choice because it's a deliberate efficiency decision the authors explain and justify.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Preprocessing is a small but essential algorithmic trick worth calling out separately — it's the answer to 'how do you feed a video game to a CNN cheaply,' and the 4-frame stack is what lets a feed-forward CNN infer motion (e.g., ball direction in Breakout) without needing a recurrent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Experience replay is the single biggest algorithmic contribution enabling stable deep RL (Section 4) — it directly answers the 'algorithmic approaches introduced' part of the assignment and explains *why* it was necessary (breaking correlations, preventing divergence), not just what it 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The assignment asks specifically for 'algorithmic approaches introduced' — showing the actual pseudocode (Algorithm 1, Section 4) lets a technical audience verify exactly how experience replay, ε-greedy exploration, and the Bellman target y_j fit together into one training loop, rather than trusting a prose summary.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Directly answers the assignment's 'experimental setup and environments' bullet. Emphasizing the single shared architecture across 7 games is important context for judging the results — it's a much stronger generality claim than tuning per game, which is exactly why this paper was considered a breakthrough.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These are the specific engineering choices (Section 5) that made training practical and stable on hardware of 2013. Reward clipping and frame-skipping are worth their own slide because they are non-obvious tricks with real trade-offs (e.g., clipping means DQN can't tell a 1-point score from a 100-point score) that a critical audience should know about.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The assignment asks for 'main results and their significance.' Showing Table 1 directly (not paraphrased) lets viewers see the actual magnitude of improvement over Sarsa/Contingency and exactly where DQN does and doesn't beat humans — that pattern (short-reflex games solved, long-horizon strategy games not) is the paper's most important nuance.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This is a subtle but important empirical finding (Section 5.1, Figure 2) that's easy to skip but matters for the 'significance' discussion — it's indirect evidence that experience replay solves the divergence problem that had plagued Q-learning with non-linear function approximators for two decades (per the Related Work section).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Numbers in a results table don't show *what* the network learned. This qualitative example is the paper's strongest evidence of genuine understanding (vs. lookup-table memorization) and is a natural talking point for a live presentation — it's intuitive even for a non-RL audience.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The assignment explicitly asks for 'significance in reinforcement learning research,' which is a historical/field-level claim distinct from the raw numbers in the results table — this slide answers 'why do people still cite this paper', not just 'what score did it get.'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The assignment explicitly asks to identify limitations/open questions 'highlighted by the authors' — every point here is something the paper itself states (Sections 4, 5.3, 6), not an outside critique, which keeps this slide faithful to the source rather than speculative.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This is the assignment's explicit request for the presenter's own critical reflection, not a restatement of the paper — it distinguishes what the paper itself says (previous slide) from an outside assessment of its lasting impact and where the field went next, which is what an instructor typically wants to see demonstrated.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Adds context that a sharp audience member might ask about (naming confusion with the more famous 2015 Nature paper; fairness of the baseline comparison) — pre-empting these questions makes the presentation feel more rigorous and shows close reading of the Related Work/Evaluation sections.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A closing recap gives the audience a single slide to look back at during Q&amp;A, tying every earlier section back into one coherent takeaway — standard practice for ending a technical talk clearly.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Standard closing slide to formally end the content portion and open the floor for questions, while keeping the paper citation visible on screen for reference during discussion.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2025ag05614@wilp.bits-pilani.ac.i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1695" cy="6858000"/>
          </a:xfrm>
          <a:prstGeom prst="rect">
            <a:avLst/>
          </a:prstGeom>
          <a:solidFill>
            <a:srgbClr val="12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259882"/>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a:t>
            </a:r>
          </a:p>
        </p:txBody>
      </p:sp>
      <p:sp>
        <p:nvSpPr>
          <p:cNvPr id="5" name="Rectangle 4"/>
          <p:cNvSpPr/>
          <p:nvPr/>
        </p:nvSpPr>
        <p:spPr>
          <a:xfrm>
            <a:off x="0" y="4206240"/>
            <a:ext cx="12191695" cy="54864"/>
          </a:xfrm>
          <a:prstGeom prst="rect">
            <a:avLst/>
          </a:prstGeom>
          <a:solidFill>
            <a:srgbClr val="2E8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03120"/>
            <a:ext cx="10698480" cy="1463040"/>
          </a:xfrm>
          <a:prstGeom prst="rect">
            <a:avLst/>
          </a:prstGeom>
          <a:noFill/>
        </p:spPr>
        <p:txBody>
          <a:bodyPr wrap="square">
            <a:spAutoFit/>
          </a:bodyPr>
          <a:lstStyle/>
          <a:p>
            <a:pPr>
              <a:defRPr sz="4000" b="1">
                <a:solidFill>
                  <a:srgbClr val="FFFFFF"/>
                </a:solidFill>
                <a:latin typeface="Calibri"/>
              </a:defRPr>
            </a:pPr>
            <a:r>
              <a:rPr dirty="0"/>
              <a:t>Playing Atari with Deep Reinforcement Learning</a:t>
            </a:r>
          </a:p>
        </p:txBody>
      </p:sp>
      <p:sp>
        <p:nvSpPr>
          <p:cNvPr id="7" name="TextBox 6"/>
          <p:cNvSpPr txBox="1"/>
          <p:nvPr/>
        </p:nvSpPr>
        <p:spPr>
          <a:xfrm>
            <a:off x="550766" y="1749890"/>
            <a:ext cx="10698480" cy="707886"/>
          </a:xfrm>
          <a:prstGeom prst="rect">
            <a:avLst/>
          </a:prstGeom>
          <a:noFill/>
        </p:spPr>
        <p:txBody>
          <a:bodyPr wrap="square">
            <a:spAutoFit/>
          </a:bodyPr>
          <a:lstStyle/>
          <a:p>
            <a:pPr>
              <a:defRPr sz="1800">
                <a:solidFill>
                  <a:srgbClr val="C9D3E0"/>
                </a:solidFill>
              </a:defRPr>
            </a:pPr>
            <a:r>
              <a:rPr lang="en-IN" sz="4000" dirty="0">
                <a:solidFill>
                  <a:schemeClr val="tx2"/>
                </a:solidFill>
              </a:rPr>
              <a:t>Playing Atari with Deep Reinforcement Learning</a:t>
            </a:r>
          </a:p>
        </p:txBody>
      </p:sp>
      <p:sp>
        <p:nvSpPr>
          <p:cNvPr id="8" name="TextBox 7"/>
          <p:cNvSpPr txBox="1"/>
          <p:nvPr/>
        </p:nvSpPr>
        <p:spPr>
          <a:xfrm>
            <a:off x="731520" y="4434840"/>
            <a:ext cx="2872902" cy="738664"/>
          </a:xfrm>
          <a:prstGeom prst="rect">
            <a:avLst/>
          </a:prstGeom>
          <a:noFill/>
        </p:spPr>
        <p:txBody>
          <a:bodyPr wrap="none">
            <a:spAutoFit/>
          </a:bodyPr>
          <a:lstStyle/>
          <a:p>
            <a:pPr>
              <a:defRPr sz="1400" i="1">
                <a:solidFill>
                  <a:srgbClr val="9AA7B8"/>
                </a:solidFill>
              </a:defRPr>
            </a:pPr>
            <a:r>
              <a:rPr lang="en-US" sz="1400" b="1" i="1" dirty="0">
                <a:solidFill>
                  <a:srgbClr val="9AA7B8"/>
                </a:solidFill>
                <a:hlinkClick r:id="rId3"/>
              </a:rPr>
              <a:t>Group 55</a:t>
            </a:r>
            <a:br>
              <a:rPr lang="en-US" sz="1400" b="1" i="1" dirty="0">
                <a:solidFill>
                  <a:srgbClr val="9AA7B8"/>
                </a:solidFill>
                <a:hlinkClick r:id="rId3"/>
              </a:rPr>
            </a:br>
            <a:r>
              <a:rPr lang="en-US" sz="1400" b="1" i="1" dirty="0">
                <a:solidFill>
                  <a:srgbClr val="9AA7B8"/>
                </a:solidFill>
                <a:hlinkClick r:id="rId3"/>
              </a:rPr>
              <a:t>2025ag05614@wilp.bits-pilani.ac.in</a:t>
            </a:r>
            <a:endParaRPr lang="en-GB" sz="1400" i="1" dirty="0">
              <a:solidFill>
                <a:srgbClr val="9AA7B8"/>
              </a:solidFill>
            </a:endParaRPr>
          </a:p>
          <a:p>
            <a:pPr>
              <a:defRPr sz="1400" i="1">
                <a:solidFill>
                  <a:srgbClr val="9AA7B8"/>
                </a:solidFill>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2</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OVERVIEW</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Agenda</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400"/>
              </a:spcAft>
              <a:defRPr sz="2000" b="0">
                <a:solidFill>
                  <a:srgbClr val="1E242B"/>
                </a:solidFill>
                <a:latin typeface="Calibri"/>
              </a:defRPr>
            </a:pPr>
            <a:r>
              <a:t>1.  Objective &amp; Motivation</a:t>
            </a:r>
          </a:p>
          <a:p>
            <a:pPr>
              <a:lnSpc>
                <a:spcPct val="115000"/>
              </a:lnSpc>
              <a:spcAft>
                <a:spcPts val="1400"/>
              </a:spcAft>
              <a:defRPr sz="2000" b="0">
                <a:solidFill>
                  <a:srgbClr val="1E242B"/>
                </a:solidFill>
                <a:latin typeface="Calibri"/>
              </a:defRPr>
            </a:pPr>
            <a:r>
              <a:t>2.  Background: Reinforcement Learning &amp; Q-learning</a:t>
            </a:r>
          </a:p>
          <a:p>
            <a:pPr>
              <a:lnSpc>
                <a:spcPct val="115000"/>
              </a:lnSpc>
              <a:spcAft>
                <a:spcPts val="1400"/>
              </a:spcAft>
              <a:defRPr sz="2000" b="0">
                <a:solidFill>
                  <a:srgbClr val="1E242B"/>
                </a:solidFill>
                <a:latin typeface="Calibri"/>
              </a:defRPr>
            </a:pPr>
            <a:r>
              <a:t>3.  Key Technique — Deep Q-Network (DQN) Architecture</a:t>
            </a:r>
          </a:p>
          <a:p>
            <a:pPr>
              <a:lnSpc>
                <a:spcPct val="115000"/>
              </a:lnSpc>
              <a:spcAft>
                <a:spcPts val="1400"/>
              </a:spcAft>
              <a:defRPr sz="2000" b="0">
                <a:solidFill>
                  <a:srgbClr val="1E242B"/>
                </a:solidFill>
                <a:latin typeface="Calibri"/>
              </a:defRPr>
            </a:pPr>
            <a:r>
              <a:t>4.  Key Technique — Experience Replay &amp; the Training Algorithm</a:t>
            </a:r>
          </a:p>
          <a:p>
            <a:pPr>
              <a:lnSpc>
                <a:spcPct val="115000"/>
              </a:lnSpc>
              <a:spcAft>
                <a:spcPts val="1400"/>
              </a:spcAft>
              <a:defRPr sz="2000" b="0">
                <a:solidFill>
                  <a:srgbClr val="1E242B"/>
                </a:solidFill>
                <a:latin typeface="Calibri"/>
              </a:defRPr>
            </a:pPr>
            <a:r>
              <a:t>5.  Experimental Setup — Atari 2600 / Arcade Learning Environment</a:t>
            </a:r>
          </a:p>
          <a:p>
            <a:pPr>
              <a:lnSpc>
                <a:spcPct val="115000"/>
              </a:lnSpc>
              <a:spcAft>
                <a:spcPts val="1400"/>
              </a:spcAft>
              <a:defRPr sz="2000" b="0">
                <a:solidFill>
                  <a:srgbClr val="1E242B"/>
                </a:solidFill>
                <a:latin typeface="Calibri"/>
              </a:defRPr>
            </a:pPr>
            <a:r>
              <a:t>6.  Main Results &amp; Significance</a:t>
            </a:r>
          </a:p>
          <a:p>
            <a:pPr>
              <a:lnSpc>
                <a:spcPct val="115000"/>
              </a:lnSpc>
              <a:spcAft>
                <a:spcPts val="1400"/>
              </a:spcAft>
              <a:defRPr sz="2000" b="0">
                <a:solidFill>
                  <a:srgbClr val="1E242B"/>
                </a:solidFill>
                <a:latin typeface="Calibri"/>
              </a:defRPr>
            </a:pPr>
            <a:r>
              <a:t>7.  Limitations &amp; Open Questions</a:t>
            </a:r>
          </a:p>
          <a:p>
            <a:pPr>
              <a:lnSpc>
                <a:spcPct val="115000"/>
              </a:lnSpc>
              <a:spcAft>
                <a:spcPts val="1400"/>
              </a:spcAft>
              <a:defRPr sz="2000" b="0">
                <a:solidFill>
                  <a:srgbClr val="1E242B"/>
                </a:solidFill>
                <a:latin typeface="Calibri"/>
              </a:defRPr>
            </a:pPr>
            <a:r>
              <a:t>8.  Critical Reflection — Impact &amp; Future Work</a:t>
            </a:r>
          </a:p>
          <a:p>
            <a:pPr>
              <a:lnSpc>
                <a:spcPct val="115000"/>
              </a:lnSpc>
              <a:spcAft>
                <a:spcPts val="1400"/>
              </a:spcAft>
              <a:defRPr sz="2000" b="0">
                <a:solidFill>
                  <a:srgbClr val="1E242B"/>
                </a:solidFill>
                <a:latin typeface="Calibri"/>
              </a:defRPr>
            </a:pPr>
            <a:r>
              <a:t>9.  Additional Points &amp; Takeaways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3</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1. OBJECTIVE</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Main Objective of the Paper</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600"/>
              </a:spcAft>
              <a:defRPr sz="1900" b="0">
                <a:solidFill>
                  <a:srgbClr val="1E242B"/>
                </a:solidFill>
                <a:latin typeface="Calibri"/>
              </a:defRPr>
            </a:pPr>
            <a:r>
              <a:t>Build the first deep learning model that learns control policies directly from high-dimensional raw sensory input (pixels) using reinforcement learning.</a:t>
            </a:r>
          </a:p>
          <a:p>
            <a:pPr>
              <a:lnSpc>
                <a:spcPct val="115000"/>
              </a:lnSpc>
              <a:spcAft>
                <a:spcPts val="1600"/>
              </a:spcAft>
              <a:defRPr sz="1900" b="0">
                <a:solidFill>
                  <a:srgbClr val="1E242B"/>
                </a:solidFill>
                <a:latin typeface="Calibri"/>
              </a:defRPr>
            </a:pPr>
            <a:r>
              <a:t>Model: a convolutional neural network (CNN) trained with a variant of Q-learning.</a:t>
            </a:r>
          </a:p>
          <a:p>
            <a:pPr>
              <a:lnSpc>
                <a:spcPct val="115000"/>
              </a:lnSpc>
              <a:spcAft>
                <a:spcPts val="1600"/>
              </a:spcAft>
              <a:defRPr sz="1900" b="0">
                <a:solidFill>
                  <a:srgbClr val="1E242B"/>
                </a:solidFill>
                <a:latin typeface="Calibri"/>
              </a:defRPr>
            </a:pPr>
            <a:r>
              <a:t>Input: raw pixels of the game screen. Output: a value function estimating future rewards for each possible action.</a:t>
            </a:r>
          </a:p>
          <a:p>
            <a:pPr>
              <a:lnSpc>
                <a:spcPct val="115000"/>
              </a:lnSpc>
              <a:spcAft>
                <a:spcPts val="1600"/>
              </a:spcAft>
              <a:defRPr sz="1900" b="0">
                <a:solidFill>
                  <a:srgbClr val="1E242B"/>
                </a:solidFill>
                <a:latin typeface="Calibri"/>
              </a:defRPr>
            </a:pPr>
            <a:r>
              <a:t>Goal: one single agent, one network architecture, one set of hyperparameters — applied unchanged across seven different Atari 2600 games.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4</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1. MOTIVATION</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Why This Was Hard: Motivation</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000"/>
              </a:spcAft>
              <a:defRPr sz="1800" b="0">
                <a:solidFill>
                  <a:srgbClr val="1E242B"/>
                </a:solidFill>
                <a:latin typeface="Calibri"/>
              </a:defRPr>
            </a:pPr>
            <a:r>
              <a:t>Prior RL success relied on hand-crafted features + linear value/policy functions — performance capped by feature quality.</a:t>
            </a:r>
          </a:p>
          <a:p>
            <a:pPr>
              <a:lnSpc>
                <a:spcPct val="115000"/>
              </a:lnSpc>
              <a:spcAft>
                <a:spcPts val="1000"/>
              </a:spcAft>
              <a:defRPr sz="1800" b="0">
                <a:solidFill>
                  <a:srgbClr val="1E242B"/>
                </a:solidFill>
                <a:latin typeface="Calibri"/>
              </a:defRPr>
            </a:pPr>
            <a:r>
              <a:t>Deep learning had just produced breakthroughs in vision and speech (ImageNet, speech recognition) by learning features automatically from raw data.</a:t>
            </a:r>
          </a:p>
          <a:p>
            <a:pPr>
              <a:lnSpc>
                <a:spcPct val="115000"/>
              </a:lnSpc>
              <a:spcAft>
                <a:spcPts val="1000"/>
              </a:spcAft>
              <a:defRPr sz="1800" b="0">
                <a:solidFill>
                  <a:srgbClr val="1E242B"/>
                </a:solidFill>
                <a:latin typeface="Calibri"/>
              </a:defRPr>
            </a:pPr>
            <a:r>
              <a:t>Natural question: can deep learning do the same for RL? But RL breaks deep learning's usual assumptions:</a:t>
            </a:r>
          </a:p>
          <a:p>
            <a:pPr lvl="1">
              <a:lnSpc>
                <a:spcPct val="115000"/>
              </a:lnSpc>
              <a:spcAft>
                <a:spcPts val="1000"/>
              </a:spcAft>
              <a:defRPr sz="1600" b="0">
                <a:solidFill>
                  <a:srgbClr val="1E242B"/>
                </a:solidFill>
                <a:latin typeface="Calibri"/>
              </a:defRPr>
            </a:pPr>
            <a:r>
              <a:t>Reward signal is sparse, noisy, and delayed (feedback can arrive thousands of steps after the causal action).</a:t>
            </a:r>
          </a:p>
          <a:p>
            <a:pPr lvl="1">
              <a:lnSpc>
                <a:spcPct val="115000"/>
              </a:lnSpc>
              <a:spcAft>
                <a:spcPts val="1000"/>
              </a:spcAft>
              <a:defRPr sz="1600" b="0">
                <a:solidFill>
                  <a:srgbClr val="1E242B"/>
                </a:solidFill>
                <a:latin typeface="Calibri"/>
              </a:defRPr>
            </a:pPr>
            <a:r>
              <a:t>Deep learning usually needs large hand-labelled datasets; RL only has a scalar reward.</a:t>
            </a:r>
          </a:p>
          <a:p>
            <a:pPr lvl="1">
              <a:lnSpc>
                <a:spcPct val="115000"/>
              </a:lnSpc>
              <a:spcAft>
                <a:spcPts val="1000"/>
              </a:spcAft>
              <a:defRPr sz="1600" b="0">
                <a:solidFill>
                  <a:srgbClr val="1E242B"/>
                </a:solidFill>
                <a:latin typeface="Calibri"/>
              </a:defRPr>
            </a:pPr>
            <a:r>
              <a:t>Deep learning assumes i.i.d. data; RL produces highly correlated sequential states.</a:t>
            </a:r>
          </a:p>
          <a:p>
            <a:pPr lvl="1">
              <a:lnSpc>
                <a:spcPct val="115000"/>
              </a:lnSpc>
              <a:spcAft>
                <a:spcPts val="1000"/>
              </a:spcAft>
              <a:defRPr sz="1600" b="0">
                <a:solidFill>
                  <a:srgbClr val="1E242B"/>
                </a:solidFill>
                <a:latin typeface="Calibri"/>
              </a:defRPr>
            </a:pPr>
            <a:r>
              <a:t>The data distribution itself shifts as the policy improves (non-stationary target).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5</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2. BACKGROUND</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RL Formalism &amp; Q-Learning Recap</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000"/>
              </a:spcAft>
              <a:defRPr sz="1700" b="0">
                <a:solidFill>
                  <a:srgbClr val="1E242B"/>
                </a:solidFill>
                <a:latin typeface="Calibri"/>
              </a:defRPr>
            </a:pPr>
            <a:r>
              <a:t>Agent interacts with environment E (Atari emulator) via actions, observations, rewards over time steps t.</a:t>
            </a:r>
          </a:p>
          <a:p>
            <a:pPr>
              <a:lnSpc>
                <a:spcPct val="115000"/>
              </a:lnSpc>
              <a:spcAft>
                <a:spcPts val="1000"/>
              </a:spcAft>
              <a:defRPr sz="1700" b="0">
                <a:solidFill>
                  <a:srgbClr val="1E242B"/>
                </a:solidFill>
                <a:latin typeface="Calibri"/>
              </a:defRPr>
            </a:pPr>
            <a:r>
              <a:t>Goal: choose actions to maximise discounted future return  Rt = Σ γ^(t'−t) · r_t'</a:t>
            </a:r>
          </a:p>
          <a:p>
            <a:pPr>
              <a:lnSpc>
                <a:spcPct val="115000"/>
              </a:lnSpc>
              <a:spcAft>
                <a:spcPts val="1000"/>
              </a:spcAft>
              <a:defRPr sz="1700" b="0">
                <a:solidFill>
                  <a:srgbClr val="1E242B"/>
                </a:solidFill>
                <a:latin typeface="Calibri"/>
              </a:defRPr>
            </a:pPr>
            <a:r>
              <a:t>Optimal action-value function Q*(s,a) = max expected return from state s, action a, under optimal policy.</a:t>
            </a:r>
          </a:p>
          <a:p>
            <a:pPr>
              <a:lnSpc>
                <a:spcPct val="115000"/>
              </a:lnSpc>
              <a:spcAft>
                <a:spcPts val="1000"/>
              </a:spcAft>
              <a:defRPr sz="1700" b="0">
                <a:solidFill>
                  <a:srgbClr val="1E242B"/>
                </a:solidFill>
                <a:latin typeface="Calibri"/>
              </a:defRPr>
            </a:pPr>
            <a:r>
              <a:t>Bellman equation: Q*(s,a) = E[ r + γ · max_a' Q*(s',a') | s,a ] — the recursive identity that all Q-learning is built on.</a:t>
            </a:r>
          </a:p>
          <a:p>
            <a:pPr>
              <a:lnSpc>
                <a:spcPct val="115000"/>
              </a:lnSpc>
              <a:spcAft>
                <a:spcPts val="1000"/>
              </a:spcAft>
              <a:defRPr sz="1700" b="0">
                <a:solidFill>
                  <a:srgbClr val="1E242B"/>
                </a:solidFill>
                <a:latin typeface="Calibri"/>
              </a:defRPr>
            </a:pPr>
            <a:r>
              <a:t>Because tabular Q is impractical for huge state spaces, approximate Q(s,a;θ) with a function approximator — here, a neural network ('Q-network').</a:t>
            </a:r>
          </a:p>
          <a:p>
            <a:pPr>
              <a:lnSpc>
                <a:spcPct val="115000"/>
              </a:lnSpc>
              <a:spcAft>
                <a:spcPts val="1000"/>
              </a:spcAft>
              <a:defRPr sz="1700" b="0">
                <a:solidFill>
                  <a:srgbClr val="1E242B"/>
                </a:solidFill>
                <a:latin typeface="Calibri"/>
              </a:defRPr>
            </a:pPr>
            <a:r>
              <a:t>Q-learning is model-free (no explicit model of the emulator needed) and off-policy (learns the greedy policy while following an exploratory ε-greedy behaviour policy).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6</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3. KEY TECHNIQUE</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The Deep Q-Network (DQN) Architecture</a:t>
            </a:r>
          </a:p>
        </p:txBody>
      </p:sp>
      <p:sp>
        <p:nvSpPr>
          <p:cNvPr id="6" name="TextBox 5"/>
          <p:cNvSpPr txBox="1"/>
          <p:nvPr/>
        </p:nvSpPr>
        <p:spPr>
          <a:xfrm>
            <a:off x="548640" y="1371600"/>
            <a:ext cx="6035040" cy="4846320"/>
          </a:xfrm>
          <a:prstGeom prst="rect">
            <a:avLst/>
          </a:prstGeom>
          <a:noFill/>
        </p:spPr>
        <p:txBody>
          <a:bodyPr wrap="square">
            <a:spAutoFit/>
          </a:bodyPr>
          <a:lstStyle/>
          <a:p>
            <a:pPr>
              <a:lnSpc>
                <a:spcPct val="115000"/>
              </a:lnSpc>
              <a:spcAft>
                <a:spcPts val="1000"/>
              </a:spcAft>
              <a:defRPr sz="1600" b="0">
                <a:solidFill>
                  <a:srgbClr val="1E242B"/>
                </a:solidFill>
                <a:latin typeface="Calibri"/>
              </a:defRPr>
            </a:pPr>
            <a:r>
              <a:rPr dirty="0"/>
              <a:t>Input: 84×84×4 stacked, preprocessed grayscale frames (last 4 frames = short-term motion history).</a:t>
            </a:r>
          </a:p>
          <a:p>
            <a:pPr>
              <a:lnSpc>
                <a:spcPct val="115000"/>
              </a:lnSpc>
              <a:spcAft>
                <a:spcPts val="1000"/>
              </a:spcAft>
              <a:defRPr sz="1600" b="0">
                <a:solidFill>
                  <a:srgbClr val="1E242B"/>
                </a:solidFill>
                <a:latin typeface="Calibri"/>
              </a:defRPr>
            </a:pPr>
            <a:r>
              <a:rPr dirty="0"/>
              <a:t>Conv Layer 1: 16 filters, 8×8, stride 4 + </a:t>
            </a:r>
            <a:r>
              <a:rPr dirty="0" err="1"/>
              <a:t>ReLU</a:t>
            </a:r>
            <a:endParaRPr dirty="0"/>
          </a:p>
          <a:p>
            <a:pPr>
              <a:lnSpc>
                <a:spcPct val="115000"/>
              </a:lnSpc>
              <a:spcAft>
                <a:spcPts val="1000"/>
              </a:spcAft>
              <a:defRPr sz="1600" b="0">
                <a:solidFill>
                  <a:srgbClr val="1E242B"/>
                </a:solidFill>
                <a:latin typeface="Calibri"/>
              </a:defRPr>
            </a:pPr>
            <a:r>
              <a:rPr dirty="0"/>
              <a:t>Conv Layer 2: 32 filters, 4×4, stride 2 + </a:t>
            </a:r>
            <a:r>
              <a:rPr dirty="0" err="1"/>
              <a:t>ReLU</a:t>
            </a:r>
            <a:endParaRPr dirty="0"/>
          </a:p>
          <a:p>
            <a:pPr>
              <a:lnSpc>
                <a:spcPct val="115000"/>
              </a:lnSpc>
              <a:spcAft>
                <a:spcPts val="1000"/>
              </a:spcAft>
              <a:defRPr sz="1600" b="0">
                <a:solidFill>
                  <a:srgbClr val="1E242B"/>
                </a:solidFill>
                <a:latin typeface="Calibri"/>
              </a:defRPr>
            </a:pPr>
            <a:r>
              <a:rPr dirty="0"/>
              <a:t>Fully connected: 256 </a:t>
            </a:r>
            <a:r>
              <a:rPr dirty="0" err="1"/>
              <a:t>ReLU</a:t>
            </a:r>
            <a:r>
              <a:rPr dirty="0"/>
              <a:t> units</a:t>
            </a:r>
          </a:p>
          <a:p>
            <a:pPr>
              <a:lnSpc>
                <a:spcPct val="115000"/>
              </a:lnSpc>
              <a:spcAft>
                <a:spcPts val="1000"/>
              </a:spcAft>
              <a:defRPr sz="1600" b="0">
                <a:solidFill>
                  <a:srgbClr val="1E242B"/>
                </a:solidFill>
                <a:latin typeface="Calibri"/>
              </a:defRPr>
            </a:pPr>
            <a:r>
              <a:rPr dirty="0"/>
              <a:t>Output layer: one linear unit per valid action (4–18 actions) — Q-value for every action in a single forward pass.</a:t>
            </a:r>
          </a:p>
          <a:p>
            <a:pPr>
              <a:lnSpc>
                <a:spcPct val="115000"/>
              </a:lnSpc>
              <a:spcAft>
                <a:spcPts val="1000"/>
              </a:spcAft>
              <a:defRPr sz="1600" b="0">
                <a:solidFill>
                  <a:srgbClr val="1E242B"/>
                </a:solidFill>
                <a:latin typeface="Calibri"/>
              </a:defRPr>
            </a:pPr>
            <a:r>
              <a:rPr dirty="0"/>
              <a:t>Key design choice: state → all Q-values at once (not </a:t>
            </a:r>
            <a:r>
              <a:rPr dirty="0" err="1"/>
              <a:t>state+action</a:t>
            </a:r>
            <a:r>
              <a:rPr dirty="0"/>
              <a:t> → one Q-value), making action selection cheap.</a:t>
            </a:r>
          </a:p>
        </p:txBody>
      </p:sp>
      <p:sp>
        <p:nvSpPr>
          <p:cNvPr id="7" name="Rounded Rectangle 6"/>
          <p:cNvSpPr/>
          <p:nvPr/>
        </p:nvSpPr>
        <p:spPr>
          <a:xfrm>
            <a:off x="7223760" y="1417320"/>
            <a:ext cx="4297680" cy="713232"/>
          </a:xfrm>
          <a:prstGeom prst="roundRect">
            <a:avLst>
              <a:gd name="adj" fmla="val 15000"/>
            </a:avLst>
          </a:prstGeom>
          <a:solidFill>
            <a:srgbClr val="2E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Input · 84x84x4</a:t>
            </a:r>
          </a:p>
        </p:txBody>
      </p:sp>
      <p:sp>
        <p:nvSpPr>
          <p:cNvPr id="8" name="Down Arrow 7"/>
          <p:cNvSpPr/>
          <p:nvPr/>
        </p:nvSpPr>
        <p:spPr>
          <a:xfrm>
            <a:off x="9281160" y="2130552"/>
            <a:ext cx="182880" cy="164592"/>
          </a:xfrm>
          <a:prstGeom prst="downArrow">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223760" y="2295144"/>
            <a:ext cx="4297680" cy="713232"/>
          </a:xfrm>
          <a:prstGeom prst="roundRect">
            <a:avLst>
              <a:gd name="adj" fmla="val 15000"/>
            </a:avLst>
          </a:prstGeom>
          <a:solidFill>
            <a:srgbClr val="F29B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Conv1 · 16@8x8 s4 · +ReLU</a:t>
            </a:r>
          </a:p>
        </p:txBody>
      </p:sp>
      <p:sp>
        <p:nvSpPr>
          <p:cNvPr id="10" name="Down Arrow 9"/>
          <p:cNvSpPr/>
          <p:nvPr/>
        </p:nvSpPr>
        <p:spPr>
          <a:xfrm>
            <a:off x="9281160" y="3008376"/>
            <a:ext cx="182880" cy="164592"/>
          </a:xfrm>
          <a:prstGeom prst="downArrow">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223760" y="3172968"/>
            <a:ext cx="4297680" cy="713232"/>
          </a:xfrm>
          <a:prstGeom prst="roundRect">
            <a:avLst>
              <a:gd name="adj" fmla="val 15000"/>
            </a:avLst>
          </a:prstGeom>
          <a:solidFill>
            <a:srgbClr val="2E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Conv2 · 32@4x4 s2 · +ReLU</a:t>
            </a:r>
          </a:p>
        </p:txBody>
      </p:sp>
      <p:sp>
        <p:nvSpPr>
          <p:cNvPr id="12" name="Down Arrow 11"/>
          <p:cNvSpPr/>
          <p:nvPr/>
        </p:nvSpPr>
        <p:spPr>
          <a:xfrm>
            <a:off x="9281160" y="3886200"/>
            <a:ext cx="182880" cy="164592"/>
          </a:xfrm>
          <a:prstGeom prst="downArrow">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223760" y="4050792"/>
            <a:ext cx="4297680" cy="713232"/>
          </a:xfrm>
          <a:prstGeom prst="roundRect">
            <a:avLst>
              <a:gd name="adj" fmla="val 15000"/>
            </a:avLst>
          </a:prstGeom>
          <a:solidFill>
            <a:srgbClr val="F29B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FC · 256 ReLU</a:t>
            </a:r>
          </a:p>
        </p:txBody>
      </p:sp>
      <p:sp>
        <p:nvSpPr>
          <p:cNvPr id="14" name="Down Arrow 13"/>
          <p:cNvSpPr/>
          <p:nvPr/>
        </p:nvSpPr>
        <p:spPr>
          <a:xfrm>
            <a:off x="9281160" y="4764024"/>
            <a:ext cx="182880" cy="164592"/>
          </a:xfrm>
          <a:prstGeom prst="downArrow">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23760" y="4928616"/>
            <a:ext cx="4297680" cy="713232"/>
          </a:xfrm>
          <a:prstGeom prst="roundRect">
            <a:avLst>
              <a:gd name="adj" fmla="val 15000"/>
            </a:avLst>
          </a:prstGeom>
          <a:solidFill>
            <a:srgbClr val="121A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Output · Q(s,a) per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7</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3. KEY TECHNIQUE</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Preprocessing Pipeline (function φ)</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400"/>
              </a:spcAft>
              <a:defRPr sz="1900" b="0">
                <a:solidFill>
                  <a:srgbClr val="1E242B"/>
                </a:solidFill>
                <a:latin typeface="Calibri"/>
              </a:defRPr>
            </a:pPr>
            <a:r>
              <a:t>Raw Atari frame: 210×160 pixels, 128-color palette — expensive to process directly.</a:t>
            </a:r>
          </a:p>
          <a:p>
            <a:pPr>
              <a:lnSpc>
                <a:spcPct val="115000"/>
              </a:lnSpc>
              <a:spcAft>
                <a:spcPts val="1400"/>
              </a:spcAft>
              <a:defRPr sz="1900" b="0">
                <a:solidFill>
                  <a:srgbClr val="1E242B"/>
                </a:solidFill>
                <a:latin typeface="Calibri"/>
              </a:defRPr>
            </a:pPr>
            <a:r>
              <a:t>Step 1 — Convert RGB to grayscale.</a:t>
            </a:r>
          </a:p>
          <a:p>
            <a:pPr>
              <a:lnSpc>
                <a:spcPct val="115000"/>
              </a:lnSpc>
              <a:spcAft>
                <a:spcPts val="1400"/>
              </a:spcAft>
              <a:defRPr sz="1900" b="0">
                <a:solidFill>
                  <a:srgbClr val="1E242B"/>
                </a:solidFill>
                <a:latin typeface="Calibri"/>
              </a:defRPr>
            </a:pPr>
            <a:r>
              <a:t>Step 2 — Down-sample to 110×84.</a:t>
            </a:r>
          </a:p>
          <a:p>
            <a:pPr>
              <a:lnSpc>
                <a:spcPct val="115000"/>
              </a:lnSpc>
              <a:spcAft>
                <a:spcPts val="1400"/>
              </a:spcAft>
              <a:defRPr sz="1900" b="0">
                <a:solidFill>
                  <a:srgbClr val="1E242B"/>
                </a:solidFill>
                <a:latin typeface="Calibri"/>
              </a:defRPr>
            </a:pPr>
            <a:r>
              <a:t>Step 3 — Crop to 84×84 (square input required by the GPU convolution implementation used).</a:t>
            </a:r>
          </a:p>
          <a:p>
            <a:pPr>
              <a:lnSpc>
                <a:spcPct val="115000"/>
              </a:lnSpc>
              <a:spcAft>
                <a:spcPts val="1400"/>
              </a:spcAft>
              <a:defRPr sz="1900" b="0">
                <a:solidFill>
                  <a:srgbClr val="1E242B"/>
                </a:solidFill>
                <a:latin typeface="Calibri"/>
              </a:defRPr>
            </a:pPr>
            <a:r>
              <a:t>Step 4 — Stack the last 4 preprocessed frames together as one input tensor (gives the network a sense of motion/velocity, since a single frame is a static image).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8</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3-4. KEY TECHNIQUE</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Experience Replay: The Critical Innovation</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900"/>
              </a:spcAft>
              <a:defRPr sz="1700" b="0">
                <a:solidFill>
                  <a:srgbClr val="1E242B"/>
                </a:solidFill>
                <a:latin typeface="Calibri"/>
              </a:defRPr>
            </a:pPr>
            <a:r>
              <a:t>Store every transition e_t = (s_t, a_t, r_t, s_t+1) into a replay memory D (last ~1 million transitions).</a:t>
            </a:r>
          </a:p>
          <a:p>
            <a:pPr>
              <a:lnSpc>
                <a:spcPct val="115000"/>
              </a:lnSpc>
              <a:spcAft>
                <a:spcPts val="900"/>
              </a:spcAft>
              <a:defRPr sz="1700" b="0">
                <a:solidFill>
                  <a:srgbClr val="1E242B"/>
                </a:solidFill>
                <a:latin typeface="Calibri"/>
              </a:defRPr>
            </a:pPr>
            <a:r>
              <a:t>At each training step, sample a random minibatch of past transitions from D — instead of training only on the most recent (correlated) experience.</a:t>
            </a:r>
          </a:p>
          <a:p>
            <a:pPr>
              <a:lnSpc>
                <a:spcPct val="115000"/>
              </a:lnSpc>
              <a:spcAft>
                <a:spcPts val="900"/>
              </a:spcAft>
              <a:defRPr sz="1700" b="1">
                <a:solidFill>
                  <a:srgbClr val="1E242B"/>
                </a:solidFill>
                <a:latin typeface="Calibri"/>
              </a:defRPr>
            </a:pPr>
            <a:r>
              <a:t>Why it matters:</a:t>
            </a:r>
          </a:p>
          <a:p>
            <a:pPr lvl="1">
              <a:lnSpc>
                <a:spcPct val="115000"/>
              </a:lnSpc>
              <a:spcAft>
                <a:spcPts val="900"/>
              </a:spcAft>
              <a:defRPr sz="1500" b="0">
                <a:solidFill>
                  <a:srgbClr val="1E242B"/>
                </a:solidFill>
                <a:latin typeface="Calibri"/>
              </a:defRPr>
            </a:pPr>
            <a:r>
              <a:t>Data efficiency — each experience can be reused in many weight updates.</a:t>
            </a:r>
          </a:p>
          <a:p>
            <a:pPr lvl="1">
              <a:lnSpc>
                <a:spcPct val="115000"/>
              </a:lnSpc>
              <a:spcAft>
                <a:spcPts val="900"/>
              </a:spcAft>
              <a:defRPr sz="1500" b="0">
                <a:solidFill>
                  <a:srgbClr val="1E242B"/>
                </a:solidFill>
                <a:latin typeface="Calibri"/>
              </a:defRPr>
            </a:pPr>
            <a:r>
              <a:t>Breaks correlation between consecutive samples → lower variance in gradient updates.</a:t>
            </a:r>
          </a:p>
          <a:p>
            <a:pPr lvl="1">
              <a:lnSpc>
                <a:spcPct val="115000"/>
              </a:lnSpc>
              <a:spcAft>
                <a:spcPts val="900"/>
              </a:spcAft>
              <a:defRPr sz="1500" b="0">
                <a:solidFill>
                  <a:srgbClr val="1E242B"/>
                </a:solidFill>
                <a:latin typeface="Calibri"/>
              </a:defRPr>
            </a:pPr>
            <a:r>
              <a:t>Smooths the training distribution over many past behaviours → avoids feedback loops / oscillation / divergence that plague naive online Q-learning with non-linear function approximators.</a:t>
            </a:r>
          </a:p>
          <a:p>
            <a:pPr>
              <a:lnSpc>
                <a:spcPct val="115000"/>
              </a:lnSpc>
              <a:spcAft>
                <a:spcPts val="900"/>
              </a:spcAft>
              <a:defRPr sz="1700" b="0">
                <a:solidFill>
                  <a:srgbClr val="1E242B"/>
                </a:solidFill>
                <a:latin typeface="Calibri"/>
              </a:defRPr>
            </a:pPr>
            <a:r>
              <a:t>Necessitates off-policy learning (Q-learning) since replayed samples come from an older policy than the current one — this is why Q-learning, not SARSA, was the natural fit.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9</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3-4. KEY TECHNIQUE</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Algorithm 1: Deep Q-Learning with Experience Replay</a:t>
            </a:r>
          </a:p>
        </p:txBody>
      </p:sp>
      <p:sp>
        <p:nvSpPr>
          <p:cNvPr id="6" name="Rounded Rectangle 5"/>
          <p:cNvSpPr/>
          <p:nvPr/>
        </p:nvSpPr>
        <p:spPr>
          <a:xfrm>
            <a:off x="640080" y="1371600"/>
            <a:ext cx="10881360" cy="4846320"/>
          </a:xfrm>
          <a:prstGeom prst="roundRect">
            <a:avLst>
              <a:gd name="adj" fmla="val 6000"/>
            </a:avLst>
          </a:prstGeom>
          <a:solidFill>
            <a:srgbClr val="0F141F"/>
          </a:solidFill>
          <a:ln w="9525">
            <a:solidFill>
              <a:srgbClr val="E1E6EC"/>
            </a:solidFill>
          </a:ln>
          <a:effectLst/>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spcAft>
                <a:spcPts val="400"/>
              </a:spcAft>
              <a:defRPr sz="1450">
                <a:solidFill>
                  <a:srgbClr val="9CF0B0"/>
                </a:solidFill>
                <a:latin typeface="Consolas"/>
              </a:defRPr>
            </a:pPr>
            <a:r>
              <a:t>Initialize replay memory D to capacity N</a:t>
            </a:r>
          </a:p>
          <a:p>
            <a:pPr>
              <a:spcAft>
                <a:spcPts val="400"/>
              </a:spcAft>
              <a:defRPr sz="1450">
                <a:solidFill>
                  <a:srgbClr val="9CF0B0"/>
                </a:solidFill>
                <a:latin typeface="Consolas"/>
              </a:defRPr>
            </a:pPr>
            <a:r>
              <a:t>Initialize action-value function Q with random weights θ</a:t>
            </a:r>
          </a:p>
          <a:p>
            <a:pPr>
              <a:spcAft>
                <a:spcPts val="400"/>
              </a:spcAft>
              <a:defRPr sz="1450">
                <a:solidFill>
                  <a:srgbClr val="E8ECF2"/>
                </a:solidFill>
                <a:latin typeface="Consolas"/>
              </a:defRPr>
            </a:pPr>
            <a:r>
              <a:t>for episode = 1 to M:</a:t>
            </a:r>
          </a:p>
          <a:p>
            <a:pPr>
              <a:spcAft>
                <a:spcPts val="400"/>
              </a:spcAft>
              <a:defRPr sz="1450">
                <a:solidFill>
                  <a:srgbClr val="9CF0B0"/>
                </a:solidFill>
                <a:latin typeface="Consolas"/>
              </a:defRPr>
            </a:pPr>
            <a:r>
              <a:t>    initialise s1, φ1 = φ(s1)</a:t>
            </a:r>
          </a:p>
          <a:p>
            <a:pPr>
              <a:spcAft>
                <a:spcPts val="400"/>
              </a:spcAft>
              <a:defRPr sz="1450">
                <a:solidFill>
                  <a:srgbClr val="E8ECF2"/>
                </a:solidFill>
                <a:latin typeface="Consolas"/>
              </a:defRPr>
            </a:pPr>
            <a:r>
              <a:t>    for t = 1 to T:</a:t>
            </a:r>
          </a:p>
          <a:p>
            <a:pPr>
              <a:spcAft>
                <a:spcPts val="400"/>
              </a:spcAft>
              <a:defRPr sz="1450">
                <a:solidFill>
                  <a:srgbClr val="E8ECF2"/>
                </a:solidFill>
                <a:latin typeface="Consolas"/>
              </a:defRPr>
            </a:pPr>
            <a:r>
              <a:t>        with probability ε, select random action a_t; otherwise a_t = argmax_a Q(φ(s_t), a; θ)</a:t>
            </a:r>
          </a:p>
          <a:p>
            <a:pPr>
              <a:spcAft>
                <a:spcPts val="400"/>
              </a:spcAft>
              <a:defRPr sz="1450">
                <a:solidFill>
                  <a:srgbClr val="E8ECF2"/>
                </a:solidFill>
                <a:latin typeface="Consolas"/>
              </a:defRPr>
            </a:pPr>
            <a:r>
              <a:t>        execute a_t, observe reward r_t and next frame x_t+1</a:t>
            </a:r>
          </a:p>
          <a:p>
            <a:pPr>
              <a:spcAft>
                <a:spcPts val="400"/>
              </a:spcAft>
              <a:defRPr sz="1450">
                <a:solidFill>
                  <a:srgbClr val="E8ECF2"/>
                </a:solidFill>
                <a:latin typeface="Consolas"/>
              </a:defRPr>
            </a:pPr>
            <a:r>
              <a:t>        set s_t+1 = (s_t, a_t, x_t+1), compute φ_t+1 = φ(s_t+1)</a:t>
            </a:r>
          </a:p>
          <a:p>
            <a:pPr>
              <a:spcAft>
                <a:spcPts val="400"/>
              </a:spcAft>
              <a:defRPr sz="1450">
                <a:solidFill>
                  <a:srgbClr val="E8ECF2"/>
                </a:solidFill>
                <a:latin typeface="Consolas"/>
              </a:defRPr>
            </a:pPr>
            <a:r>
              <a:t>        store transition (φ_t, a_t, r_t, φ_t+1) in D</a:t>
            </a:r>
          </a:p>
          <a:p>
            <a:pPr>
              <a:spcAft>
                <a:spcPts val="400"/>
              </a:spcAft>
              <a:defRPr sz="1450">
                <a:solidFill>
                  <a:srgbClr val="E8ECF2"/>
                </a:solidFill>
                <a:latin typeface="Consolas"/>
              </a:defRPr>
            </a:pPr>
            <a:r>
              <a:t>        sample random minibatch (φ_j, a_j, r_j, φ_j+1) from D</a:t>
            </a:r>
          </a:p>
          <a:p>
            <a:pPr>
              <a:spcAft>
                <a:spcPts val="400"/>
              </a:spcAft>
              <a:defRPr sz="1450">
                <a:solidFill>
                  <a:srgbClr val="E8ECF2"/>
                </a:solidFill>
                <a:latin typeface="Consolas"/>
              </a:defRPr>
            </a:pPr>
            <a:r>
              <a:t>        y_j = r_j                                 if φ_j+1 terminal</a:t>
            </a:r>
          </a:p>
          <a:p>
            <a:pPr>
              <a:spcAft>
                <a:spcPts val="400"/>
              </a:spcAft>
              <a:defRPr sz="1450">
                <a:solidFill>
                  <a:srgbClr val="E8ECF2"/>
                </a:solidFill>
                <a:latin typeface="Consolas"/>
              </a:defRPr>
            </a:pPr>
            <a:r>
              <a:t>        y_j = r_j + γ · max_a' Q(φ_j+1, a'; θ)     otherwise</a:t>
            </a:r>
          </a:p>
          <a:p>
            <a:pPr>
              <a:spcAft>
                <a:spcPts val="400"/>
              </a:spcAft>
              <a:defRPr sz="1450">
                <a:solidFill>
                  <a:srgbClr val="E8ECF2"/>
                </a:solidFill>
                <a:latin typeface="Consolas"/>
              </a:defRPr>
            </a:pPr>
            <a:r>
              <a:t>        gradient descent step on (y_j − Q(φ_j, a_j; θ))²</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10</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5. EXPERIMENTAL SETUP</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Environments: Atari 2600 / Arcade Learning Environment</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400"/>
              </a:spcAft>
              <a:defRPr sz="1800" b="0">
                <a:solidFill>
                  <a:srgbClr val="1E242B"/>
                </a:solidFill>
                <a:latin typeface="Calibri"/>
              </a:defRPr>
            </a:pPr>
            <a:r>
              <a:t>Platform: Arcade Learning Environment (ALE) — emulates real Atari 2600 games.</a:t>
            </a:r>
          </a:p>
          <a:p>
            <a:pPr>
              <a:lnSpc>
                <a:spcPct val="115000"/>
              </a:lnSpc>
              <a:spcAft>
                <a:spcPts val="1400"/>
              </a:spcAft>
              <a:defRPr sz="1800" b="0">
                <a:solidFill>
                  <a:srgbClr val="1E242B"/>
                </a:solidFill>
                <a:latin typeface="Calibri"/>
              </a:defRPr>
            </a:pPr>
            <a:r>
              <a:t>Raw input: 210×160 RGB video at 60 Hz — a genuinely high-dimensional, unmodified visual input (no internal emulator state given to the agent).</a:t>
            </a:r>
          </a:p>
          <a:p>
            <a:pPr>
              <a:lnSpc>
                <a:spcPct val="115000"/>
              </a:lnSpc>
              <a:spcAft>
                <a:spcPts val="1400"/>
              </a:spcAft>
              <a:defRPr sz="1800" b="0">
                <a:solidFill>
                  <a:srgbClr val="1E242B"/>
                </a:solidFill>
                <a:latin typeface="Calibri"/>
              </a:defRPr>
            </a:pPr>
            <a:r>
              <a:t>Seven games tested: Beam Rider, Breakout, Enduro, Pong, Q*bert, Seaquest, Space Invaders.</a:t>
            </a:r>
          </a:p>
          <a:p>
            <a:pPr>
              <a:lnSpc>
                <a:spcPct val="115000"/>
              </a:lnSpc>
              <a:spcAft>
                <a:spcPts val="1400"/>
              </a:spcAft>
              <a:defRPr sz="1800" b="0">
                <a:solidFill>
                  <a:srgbClr val="1E242B"/>
                </a:solidFill>
                <a:latin typeface="Calibri"/>
              </a:defRPr>
            </a:pPr>
            <a:r>
              <a:t>Same network architecture, same learning algorithm, same hyperparameters used for all seven games — no game-specific tuning (only exception: frame-skip k=3 vs 4, for a visibility artifact in Space Invaders).</a:t>
            </a:r>
          </a:p>
          <a:p>
            <a:pPr>
              <a:lnSpc>
                <a:spcPct val="115000"/>
              </a:lnSpc>
              <a:spcAft>
                <a:spcPts val="1400"/>
              </a:spcAft>
              <a:defRPr sz="1800" b="0">
                <a:solidFill>
                  <a:srgbClr val="1E242B"/>
                </a:solidFill>
                <a:latin typeface="Calibri"/>
              </a:defRPr>
            </a:pPr>
            <a:r>
              <a:t>Action set size varies per game: 4 to 18 legal actions.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11</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5. EXPERIMENTAL SETUP</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Training Configuration</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200"/>
              </a:spcAft>
              <a:defRPr sz="1800" b="0">
                <a:solidFill>
                  <a:srgbClr val="1E242B"/>
                </a:solidFill>
                <a:latin typeface="Calibri"/>
              </a:defRPr>
            </a:pPr>
            <a:r>
              <a:t>Optimizer: RMSProp, minibatch size 32.</a:t>
            </a:r>
          </a:p>
          <a:p>
            <a:pPr>
              <a:lnSpc>
                <a:spcPct val="115000"/>
              </a:lnSpc>
              <a:spcAft>
                <a:spcPts val="1200"/>
              </a:spcAft>
              <a:defRPr sz="1800" b="0">
                <a:solidFill>
                  <a:srgbClr val="1E242B"/>
                </a:solidFill>
                <a:latin typeface="Calibri"/>
              </a:defRPr>
            </a:pPr>
            <a:r>
              <a:t>Exploration: ε-greedy, ε annealed linearly from 1.0 → 0.1 over the first 1 million frames, then fixed at 0.1.</a:t>
            </a:r>
          </a:p>
          <a:p>
            <a:pPr>
              <a:lnSpc>
                <a:spcPct val="115000"/>
              </a:lnSpc>
              <a:spcAft>
                <a:spcPts val="1200"/>
              </a:spcAft>
              <a:defRPr sz="1800" b="0">
                <a:solidFill>
                  <a:srgbClr val="1E242B"/>
                </a:solidFill>
                <a:latin typeface="Calibri"/>
              </a:defRPr>
            </a:pPr>
            <a:r>
              <a:t>Total training: 10 million frames; replay memory holds the most recent 1 million frames.</a:t>
            </a:r>
          </a:p>
          <a:p>
            <a:pPr>
              <a:lnSpc>
                <a:spcPct val="115000"/>
              </a:lnSpc>
              <a:spcAft>
                <a:spcPts val="1200"/>
              </a:spcAft>
              <a:defRPr sz="1800" b="0">
                <a:solidFill>
                  <a:srgbClr val="1E242B"/>
                </a:solidFill>
                <a:latin typeface="Calibri"/>
              </a:defRPr>
            </a:pPr>
            <a:r>
              <a:t>Reward clipping: all positive rewards → +1, all negative → −1, zero unchanged — keeps error gradients on the same scale across very different games, at the cost of losing reward-magnitude information.</a:t>
            </a:r>
          </a:p>
          <a:p>
            <a:pPr>
              <a:lnSpc>
                <a:spcPct val="115000"/>
              </a:lnSpc>
              <a:spcAft>
                <a:spcPts val="1200"/>
              </a:spcAft>
              <a:defRPr sz="1800" b="0">
                <a:solidFill>
                  <a:srgbClr val="1E242B"/>
                </a:solidFill>
                <a:latin typeface="Calibri"/>
              </a:defRPr>
            </a:pPr>
            <a:r>
              <a:t>Frame-skipping: agent acts every k-th frame (k=4, except k=3 for Space Invaders) and repeats the last action on skipped frames — lets the agent experience ~k× more game time for the same compute.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12</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6. RESULTS</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Main Results: DQN vs Prior Methods vs Human</a:t>
            </a:r>
          </a:p>
        </p:txBody>
      </p:sp>
      <p:graphicFrame>
        <p:nvGraphicFramePr>
          <p:cNvPr id="6" name="Table 5"/>
          <p:cNvGraphicFramePr>
            <a:graphicFrameLocks noGrp="1"/>
          </p:cNvGraphicFramePr>
          <p:nvPr/>
        </p:nvGraphicFramePr>
        <p:xfrm>
          <a:off x="457200" y="1371600"/>
          <a:ext cx="11347704" cy="329184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399032">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gridCol w="1399032">
                  <a:extLst>
                    <a:ext uri="{9D8B030D-6E8A-4147-A177-3AD203B41FA5}">
                      <a16:colId xmlns:a16="http://schemas.microsoft.com/office/drawing/2014/main" val="20005"/>
                    </a:ext>
                  </a:extLst>
                </a:gridCol>
                <a:gridCol w="1399032">
                  <a:extLst>
                    <a:ext uri="{9D8B030D-6E8A-4147-A177-3AD203B41FA5}">
                      <a16:colId xmlns:a16="http://schemas.microsoft.com/office/drawing/2014/main" val="20006"/>
                    </a:ext>
                  </a:extLst>
                </a:gridCol>
                <a:gridCol w="1399032">
                  <a:extLst>
                    <a:ext uri="{9D8B030D-6E8A-4147-A177-3AD203B41FA5}">
                      <a16:colId xmlns:a16="http://schemas.microsoft.com/office/drawing/2014/main" val="20007"/>
                    </a:ext>
                  </a:extLst>
                </a:gridCol>
              </a:tblGrid>
              <a:tr h="548640">
                <a:tc>
                  <a:txBody>
                    <a:bodyPr/>
                    <a:lstStyle/>
                    <a:p>
                      <a:pPr algn="l">
                        <a:defRPr sz="1400" b="1">
                          <a:solidFill>
                            <a:srgbClr val="FFFFFF"/>
                          </a:solidFill>
                        </a:defRPr>
                      </a:pPr>
                      <a:endParaRPr/>
                    </a:p>
                  </a:txBody>
                  <a:tcPr>
                    <a:solidFill>
                      <a:srgbClr val="121A2B"/>
                    </a:solidFill>
                  </a:tcPr>
                </a:tc>
                <a:tc>
                  <a:txBody>
                    <a:bodyPr/>
                    <a:lstStyle/>
                    <a:p>
                      <a:pPr algn="ctr">
                        <a:defRPr sz="1400" b="1">
                          <a:solidFill>
                            <a:srgbClr val="FFFFFF"/>
                          </a:solidFill>
                        </a:defRPr>
                      </a:pPr>
                      <a:r>
                        <a:t>B. Rider</a:t>
                      </a:r>
                    </a:p>
                  </a:txBody>
                  <a:tcPr>
                    <a:solidFill>
                      <a:srgbClr val="121A2B"/>
                    </a:solidFill>
                  </a:tcPr>
                </a:tc>
                <a:tc>
                  <a:txBody>
                    <a:bodyPr/>
                    <a:lstStyle/>
                    <a:p>
                      <a:pPr algn="ctr">
                        <a:defRPr sz="1400" b="1">
                          <a:solidFill>
                            <a:srgbClr val="FFFFFF"/>
                          </a:solidFill>
                        </a:defRPr>
                      </a:pPr>
                      <a:r>
                        <a:t>Breakout</a:t>
                      </a:r>
                    </a:p>
                  </a:txBody>
                  <a:tcPr>
                    <a:solidFill>
                      <a:srgbClr val="121A2B"/>
                    </a:solidFill>
                  </a:tcPr>
                </a:tc>
                <a:tc>
                  <a:txBody>
                    <a:bodyPr/>
                    <a:lstStyle/>
                    <a:p>
                      <a:pPr algn="ctr">
                        <a:defRPr sz="1400" b="1">
                          <a:solidFill>
                            <a:srgbClr val="FFFFFF"/>
                          </a:solidFill>
                        </a:defRPr>
                      </a:pPr>
                      <a:r>
                        <a:t>Enduro</a:t>
                      </a:r>
                    </a:p>
                  </a:txBody>
                  <a:tcPr>
                    <a:solidFill>
                      <a:srgbClr val="121A2B"/>
                    </a:solidFill>
                  </a:tcPr>
                </a:tc>
                <a:tc>
                  <a:txBody>
                    <a:bodyPr/>
                    <a:lstStyle/>
                    <a:p>
                      <a:pPr algn="ctr">
                        <a:defRPr sz="1400" b="1">
                          <a:solidFill>
                            <a:srgbClr val="FFFFFF"/>
                          </a:solidFill>
                        </a:defRPr>
                      </a:pPr>
                      <a:r>
                        <a:t>Pong</a:t>
                      </a:r>
                    </a:p>
                  </a:txBody>
                  <a:tcPr>
                    <a:solidFill>
                      <a:srgbClr val="121A2B"/>
                    </a:solidFill>
                  </a:tcPr>
                </a:tc>
                <a:tc>
                  <a:txBody>
                    <a:bodyPr/>
                    <a:lstStyle/>
                    <a:p>
                      <a:pPr algn="ctr">
                        <a:defRPr sz="1400" b="1">
                          <a:solidFill>
                            <a:srgbClr val="FFFFFF"/>
                          </a:solidFill>
                        </a:defRPr>
                      </a:pPr>
                      <a:r>
                        <a:t>Q*bert</a:t>
                      </a:r>
                    </a:p>
                  </a:txBody>
                  <a:tcPr>
                    <a:solidFill>
                      <a:srgbClr val="121A2B"/>
                    </a:solidFill>
                  </a:tcPr>
                </a:tc>
                <a:tc>
                  <a:txBody>
                    <a:bodyPr/>
                    <a:lstStyle/>
                    <a:p>
                      <a:pPr algn="ctr">
                        <a:defRPr sz="1400" b="1">
                          <a:solidFill>
                            <a:srgbClr val="FFFFFF"/>
                          </a:solidFill>
                        </a:defRPr>
                      </a:pPr>
                      <a:r>
                        <a:t>Seaquest</a:t>
                      </a:r>
                    </a:p>
                  </a:txBody>
                  <a:tcPr>
                    <a:solidFill>
                      <a:srgbClr val="121A2B"/>
                    </a:solidFill>
                  </a:tcPr>
                </a:tc>
                <a:tc>
                  <a:txBody>
                    <a:bodyPr/>
                    <a:lstStyle/>
                    <a:p>
                      <a:pPr algn="ctr">
                        <a:defRPr sz="1400" b="1">
                          <a:solidFill>
                            <a:srgbClr val="FFFFFF"/>
                          </a:solidFill>
                        </a:defRPr>
                      </a:pPr>
                      <a:r>
                        <a:t>S. Invaders</a:t>
                      </a:r>
                    </a:p>
                  </a:txBody>
                  <a:tcPr>
                    <a:solidFill>
                      <a:srgbClr val="121A2B"/>
                    </a:solidFill>
                  </a:tcPr>
                </a:tc>
                <a:extLst>
                  <a:ext uri="{0D108BD9-81ED-4DB2-BD59-A6C34878D82A}">
                    <a16:rowId xmlns:a16="http://schemas.microsoft.com/office/drawing/2014/main" val="10000"/>
                  </a:ext>
                </a:extLst>
              </a:tr>
              <a:tr h="548640">
                <a:tc>
                  <a:txBody>
                    <a:bodyPr/>
                    <a:lstStyle/>
                    <a:p>
                      <a:pPr algn="l">
                        <a:defRPr sz="1400"/>
                      </a:pPr>
                      <a:r>
                        <a:t>Random</a:t>
                      </a:r>
                    </a:p>
                  </a:txBody>
                  <a:tcPr>
                    <a:solidFill>
                      <a:srgbClr val="FFFFFF"/>
                    </a:solidFill>
                  </a:tcPr>
                </a:tc>
                <a:tc>
                  <a:txBody>
                    <a:bodyPr/>
                    <a:lstStyle/>
                    <a:p>
                      <a:pPr algn="ctr">
                        <a:defRPr sz="1400"/>
                      </a:pPr>
                      <a:r>
                        <a:t>354</a:t>
                      </a:r>
                    </a:p>
                  </a:txBody>
                  <a:tcPr>
                    <a:solidFill>
                      <a:srgbClr val="FFFFFF"/>
                    </a:solidFill>
                  </a:tcPr>
                </a:tc>
                <a:tc>
                  <a:txBody>
                    <a:bodyPr/>
                    <a:lstStyle/>
                    <a:p>
                      <a:pPr algn="ctr">
                        <a:defRPr sz="1400"/>
                      </a:pPr>
                      <a:r>
                        <a:t>1.2</a:t>
                      </a:r>
                    </a:p>
                  </a:txBody>
                  <a:tcPr>
                    <a:solidFill>
                      <a:srgbClr val="FFFFFF"/>
                    </a:solidFill>
                  </a:tcPr>
                </a:tc>
                <a:tc>
                  <a:txBody>
                    <a:bodyPr/>
                    <a:lstStyle/>
                    <a:p>
                      <a:pPr algn="ctr">
                        <a:defRPr sz="1400"/>
                      </a:pPr>
                      <a:r>
                        <a:t>0</a:t>
                      </a:r>
                    </a:p>
                  </a:txBody>
                  <a:tcPr>
                    <a:solidFill>
                      <a:srgbClr val="FFFFFF"/>
                    </a:solidFill>
                  </a:tcPr>
                </a:tc>
                <a:tc>
                  <a:txBody>
                    <a:bodyPr/>
                    <a:lstStyle/>
                    <a:p>
                      <a:pPr algn="ctr">
                        <a:defRPr sz="1400"/>
                      </a:pPr>
                      <a:r>
                        <a:t>-20.4</a:t>
                      </a:r>
                    </a:p>
                  </a:txBody>
                  <a:tcPr>
                    <a:solidFill>
                      <a:srgbClr val="FFFFFF"/>
                    </a:solidFill>
                  </a:tcPr>
                </a:tc>
                <a:tc>
                  <a:txBody>
                    <a:bodyPr/>
                    <a:lstStyle/>
                    <a:p>
                      <a:pPr algn="ctr">
                        <a:defRPr sz="1400"/>
                      </a:pPr>
                      <a:r>
                        <a:t>157</a:t>
                      </a:r>
                    </a:p>
                  </a:txBody>
                  <a:tcPr>
                    <a:solidFill>
                      <a:srgbClr val="FFFFFF"/>
                    </a:solidFill>
                  </a:tcPr>
                </a:tc>
                <a:tc>
                  <a:txBody>
                    <a:bodyPr/>
                    <a:lstStyle/>
                    <a:p>
                      <a:pPr algn="ctr">
                        <a:defRPr sz="1400"/>
                      </a:pPr>
                      <a:r>
                        <a:t>110</a:t>
                      </a:r>
                    </a:p>
                  </a:txBody>
                  <a:tcPr>
                    <a:solidFill>
                      <a:srgbClr val="FFFFFF"/>
                    </a:solidFill>
                  </a:tcPr>
                </a:tc>
                <a:tc>
                  <a:txBody>
                    <a:bodyPr/>
                    <a:lstStyle/>
                    <a:p>
                      <a:pPr algn="ctr">
                        <a:defRPr sz="1400"/>
                      </a:pPr>
                      <a:r>
                        <a:t>179</a:t>
                      </a:r>
                    </a:p>
                  </a:txBody>
                  <a:tcPr>
                    <a:solidFill>
                      <a:srgbClr val="FFFFFF"/>
                    </a:solidFill>
                  </a:tcPr>
                </a:tc>
                <a:extLst>
                  <a:ext uri="{0D108BD9-81ED-4DB2-BD59-A6C34878D82A}">
                    <a16:rowId xmlns:a16="http://schemas.microsoft.com/office/drawing/2014/main" val="10001"/>
                  </a:ext>
                </a:extLst>
              </a:tr>
              <a:tr h="548640">
                <a:tc>
                  <a:txBody>
                    <a:bodyPr/>
                    <a:lstStyle/>
                    <a:p>
                      <a:pPr algn="l">
                        <a:defRPr sz="1400"/>
                      </a:pPr>
                      <a:r>
                        <a:t>Sarsa</a:t>
                      </a:r>
                    </a:p>
                  </a:txBody>
                  <a:tcPr>
                    <a:solidFill>
                      <a:srgbClr val="F5F7FA"/>
                    </a:solidFill>
                  </a:tcPr>
                </a:tc>
                <a:tc>
                  <a:txBody>
                    <a:bodyPr/>
                    <a:lstStyle/>
                    <a:p>
                      <a:pPr algn="ctr">
                        <a:defRPr sz="1400"/>
                      </a:pPr>
                      <a:r>
                        <a:t>996</a:t>
                      </a:r>
                    </a:p>
                  </a:txBody>
                  <a:tcPr>
                    <a:solidFill>
                      <a:srgbClr val="F5F7FA"/>
                    </a:solidFill>
                  </a:tcPr>
                </a:tc>
                <a:tc>
                  <a:txBody>
                    <a:bodyPr/>
                    <a:lstStyle/>
                    <a:p>
                      <a:pPr algn="ctr">
                        <a:defRPr sz="1400"/>
                      </a:pPr>
                      <a:r>
                        <a:t>5.2</a:t>
                      </a:r>
                    </a:p>
                  </a:txBody>
                  <a:tcPr>
                    <a:solidFill>
                      <a:srgbClr val="F5F7FA"/>
                    </a:solidFill>
                  </a:tcPr>
                </a:tc>
                <a:tc>
                  <a:txBody>
                    <a:bodyPr/>
                    <a:lstStyle/>
                    <a:p>
                      <a:pPr algn="ctr">
                        <a:defRPr sz="1400"/>
                      </a:pPr>
                      <a:r>
                        <a:t>129</a:t>
                      </a:r>
                    </a:p>
                  </a:txBody>
                  <a:tcPr>
                    <a:solidFill>
                      <a:srgbClr val="F5F7FA"/>
                    </a:solidFill>
                  </a:tcPr>
                </a:tc>
                <a:tc>
                  <a:txBody>
                    <a:bodyPr/>
                    <a:lstStyle/>
                    <a:p>
                      <a:pPr algn="ctr">
                        <a:defRPr sz="1400"/>
                      </a:pPr>
                      <a:r>
                        <a:t>-19</a:t>
                      </a:r>
                    </a:p>
                  </a:txBody>
                  <a:tcPr>
                    <a:solidFill>
                      <a:srgbClr val="F5F7FA"/>
                    </a:solidFill>
                  </a:tcPr>
                </a:tc>
                <a:tc>
                  <a:txBody>
                    <a:bodyPr/>
                    <a:lstStyle/>
                    <a:p>
                      <a:pPr algn="ctr">
                        <a:defRPr sz="1400"/>
                      </a:pPr>
                      <a:r>
                        <a:t>614</a:t>
                      </a:r>
                    </a:p>
                  </a:txBody>
                  <a:tcPr>
                    <a:solidFill>
                      <a:srgbClr val="F5F7FA"/>
                    </a:solidFill>
                  </a:tcPr>
                </a:tc>
                <a:tc>
                  <a:txBody>
                    <a:bodyPr/>
                    <a:lstStyle/>
                    <a:p>
                      <a:pPr algn="ctr">
                        <a:defRPr sz="1400"/>
                      </a:pPr>
                      <a:r>
                        <a:t>665</a:t>
                      </a:r>
                    </a:p>
                  </a:txBody>
                  <a:tcPr>
                    <a:solidFill>
                      <a:srgbClr val="F5F7FA"/>
                    </a:solidFill>
                  </a:tcPr>
                </a:tc>
                <a:tc>
                  <a:txBody>
                    <a:bodyPr/>
                    <a:lstStyle/>
                    <a:p>
                      <a:pPr algn="ctr">
                        <a:defRPr sz="1400"/>
                      </a:pPr>
                      <a:r>
                        <a:t>271</a:t>
                      </a:r>
                    </a:p>
                  </a:txBody>
                  <a:tcPr>
                    <a:solidFill>
                      <a:srgbClr val="F5F7FA"/>
                    </a:solidFill>
                  </a:tcPr>
                </a:tc>
                <a:extLst>
                  <a:ext uri="{0D108BD9-81ED-4DB2-BD59-A6C34878D82A}">
                    <a16:rowId xmlns:a16="http://schemas.microsoft.com/office/drawing/2014/main" val="10002"/>
                  </a:ext>
                </a:extLst>
              </a:tr>
              <a:tr h="548640">
                <a:tc>
                  <a:txBody>
                    <a:bodyPr/>
                    <a:lstStyle/>
                    <a:p>
                      <a:pPr algn="l">
                        <a:defRPr sz="1400"/>
                      </a:pPr>
                      <a:r>
                        <a:t>Contingency</a:t>
                      </a:r>
                    </a:p>
                  </a:txBody>
                  <a:tcPr>
                    <a:solidFill>
                      <a:srgbClr val="FFFFFF"/>
                    </a:solidFill>
                  </a:tcPr>
                </a:tc>
                <a:tc>
                  <a:txBody>
                    <a:bodyPr/>
                    <a:lstStyle/>
                    <a:p>
                      <a:pPr algn="ctr">
                        <a:defRPr sz="1400"/>
                      </a:pPr>
                      <a:r>
                        <a:t>1743</a:t>
                      </a:r>
                    </a:p>
                  </a:txBody>
                  <a:tcPr>
                    <a:solidFill>
                      <a:srgbClr val="FFFFFF"/>
                    </a:solidFill>
                  </a:tcPr>
                </a:tc>
                <a:tc>
                  <a:txBody>
                    <a:bodyPr/>
                    <a:lstStyle/>
                    <a:p>
                      <a:pPr algn="ctr">
                        <a:defRPr sz="1400"/>
                      </a:pPr>
                      <a:r>
                        <a:t>6</a:t>
                      </a:r>
                    </a:p>
                  </a:txBody>
                  <a:tcPr>
                    <a:solidFill>
                      <a:srgbClr val="FFFFFF"/>
                    </a:solidFill>
                  </a:tcPr>
                </a:tc>
                <a:tc>
                  <a:txBody>
                    <a:bodyPr/>
                    <a:lstStyle/>
                    <a:p>
                      <a:pPr algn="ctr">
                        <a:defRPr sz="1400"/>
                      </a:pPr>
                      <a:r>
                        <a:t>159</a:t>
                      </a:r>
                    </a:p>
                  </a:txBody>
                  <a:tcPr>
                    <a:solidFill>
                      <a:srgbClr val="FFFFFF"/>
                    </a:solidFill>
                  </a:tcPr>
                </a:tc>
                <a:tc>
                  <a:txBody>
                    <a:bodyPr/>
                    <a:lstStyle/>
                    <a:p>
                      <a:pPr algn="ctr">
                        <a:defRPr sz="1400"/>
                      </a:pPr>
                      <a:r>
                        <a:t>-17</a:t>
                      </a:r>
                    </a:p>
                  </a:txBody>
                  <a:tcPr>
                    <a:solidFill>
                      <a:srgbClr val="FFFFFF"/>
                    </a:solidFill>
                  </a:tcPr>
                </a:tc>
                <a:tc>
                  <a:txBody>
                    <a:bodyPr/>
                    <a:lstStyle/>
                    <a:p>
                      <a:pPr algn="ctr">
                        <a:defRPr sz="1400"/>
                      </a:pPr>
                      <a:r>
                        <a:t>960</a:t>
                      </a:r>
                    </a:p>
                  </a:txBody>
                  <a:tcPr>
                    <a:solidFill>
                      <a:srgbClr val="FFFFFF"/>
                    </a:solidFill>
                  </a:tcPr>
                </a:tc>
                <a:tc>
                  <a:txBody>
                    <a:bodyPr/>
                    <a:lstStyle/>
                    <a:p>
                      <a:pPr algn="ctr">
                        <a:defRPr sz="1400"/>
                      </a:pPr>
                      <a:r>
                        <a:t>723</a:t>
                      </a:r>
                    </a:p>
                  </a:txBody>
                  <a:tcPr>
                    <a:solidFill>
                      <a:srgbClr val="FFFFFF"/>
                    </a:solidFill>
                  </a:tcPr>
                </a:tc>
                <a:tc>
                  <a:txBody>
                    <a:bodyPr/>
                    <a:lstStyle/>
                    <a:p>
                      <a:pPr algn="ctr">
                        <a:defRPr sz="1400"/>
                      </a:pPr>
                      <a:r>
                        <a:t>268</a:t>
                      </a:r>
                    </a:p>
                  </a:txBody>
                  <a:tcPr>
                    <a:solidFill>
                      <a:srgbClr val="FFFFFF"/>
                    </a:solidFill>
                  </a:tcPr>
                </a:tc>
                <a:extLst>
                  <a:ext uri="{0D108BD9-81ED-4DB2-BD59-A6C34878D82A}">
                    <a16:rowId xmlns:a16="http://schemas.microsoft.com/office/drawing/2014/main" val="10003"/>
                  </a:ext>
                </a:extLst>
              </a:tr>
              <a:tr h="548640">
                <a:tc>
                  <a:txBody>
                    <a:bodyPr/>
                    <a:lstStyle/>
                    <a:p>
                      <a:pPr algn="l">
                        <a:defRPr sz="1400" b="1">
                          <a:solidFill>
                            <a:srgbClr val="FFFFFF"/>
                          </a:solidFill>
                        </a:defRPr>
                      </a:pPr>
                      <a:r>
                        <a:t>DQN</a:t>
                      </a:r>
                    </a:p>
                  </a:txBody>
                  <a:tcPr>
                    <a:solidFill>
                      <a:srgbClr val="2E86E8"/>
                    </a:solidFill>
                  </a:tcPr>
                </a:tc>
                <a:tc>
                  <a:txBody>
                    <a:bodyPr/>
                    <a:lstStyle/>
                    <a:p>
                      <a:pPr algn="ctr">
                        <a:defRPr sz="1400" b="1">
                          <a:solidFill>
                            <a:srgbClr val="FFFFFF"/>
                          </a:solidFill>
                        </a:defRPr>
                      </a:pPr>
                      <a:r>
                        <a:t>4092</a:t>
                      </a:r>
                    </a:p>
                  </a:txBody>
                  <a:tcPr>
                    <a:solidFill>
                      <a:srgbClr val="2E86E8"/>
                    </a:solidFill>
                  </a:tcPr>
                </a:tc>
                <a:tc>
                  <a:txBody>
                    <a:bodyPr/>
                    <a:lstStyle/>
                    <a:p>
                      <a:pPr algn="ctr">
                        <a:defRPr sz="1400" b="1">
                          <a:solidFill>
                            <a:srgbClr val="FFFFFF"/>
                          </a:solidFill>
                        </a:defRPr>
                      </a:pPr>
                      <a:r>
                        <a:t>168</a:t>
                      </a:r>
                    </a:p>
                  </a:txBody>
                  <a:tcPr>
                    <a:solidFill>
                      <a:srgbClr val="2E86E8"/>
                    </a:solidFill>
                  </a:tcPr>
                </a:tc>
                <a:tc>
                  <a:txBody>
                    <a:bodyPr/>
                    <a:lstStyle/>
                    <a:p>
                      <a:pPr algn="ctr">
                        <a:defRPr sz="1400" b="1">
                          <a:solidFill>
                            <a:srgbClr val="FFFFFF"/>
                          </a:solidFill>
                        </a:defRPr>
                      </a:pPr>
                      <a:r>
                        <a:t>470</a:t>
                      </a:r>
                    </a:p>
                  </a:txBody>
                  <a:tcPr>
                    <a:solidFill>
                      <a:srgbClr val="2E86E8"/>
                    </a:solidFill>
                  </a:tcPr>
                </a:tc>
                <a:tc>
                  <a:txBody>
                    <a:bodyPr/>
                    <a:lstStyle/>
                    <a:p>
                      <a:pPr algn="ctr">
                        <a:defRPr sz="1400" b="1">
                          <a:solidFill>
                            <a:srgbClr val="FFFFFF"/>
                          </a:solidFill>
                        </a:defRPr>
                      </a:pPr>
                      <a:r>
                        <a:t>20</a:t>
                      </a:r>
                    </a:p>
                  </a:txBody>
                  <a:tcPr>
                    <a:solidFill>
                      <a:srgbClr val="2E86E8"/>
                    </a:solidFill>
                  </a:tcPr>
                </a:tc>
                <a:tc>
                  <a:txBody>
                    <a:bodyPr/>
                    <a:lstStyle/>
                    <a:p>
                      <a:pPr algn="ctr">
                        <a:defRPr sz="1400" b="1">
                          <a:solidFill>
                            <a:srgbClr val="FFFFFF"/>
                          </a:solidFill>
                        </a:defRPr>
                      </a:pPr>
                      <a:r>
                        <a:t>1952</a:t>
                      </a:r>
                    </a:p>
                  </a:txBody>
                  <a:tcPr>
                    <a:solidFill>
                      <a:srgbClr val="2E86E8"/>
                    </a:solidFill>
                  </a:tcPr>
                </a:tc>
                <a:tc>
                  <a:txBody>
                    <a:bodyPr/>
                    <a:lstStyle/>
                    <a:p>
                      <a:pPr algn="ctr">
                        <a:defRPr sz="1400" b="1">
                          <a:solidFill>
                            <a:srgbClr val="FFFFFF"/>
                          </a:solidFill>
                        </a:defRPr>
                      </a:pPr>
                      <a:r>
                        <a:t>1705</a:t>
                      </a:r>
                    </a:p>
                  </a:txBody>
                  <a:tcPr>
                    <a:solidFill>
                      <a:srgbClr val="2E86E8"/>
                    </a:solidFill>
                  </a:tcPr>
                </a:tc>
                <a:tc>
                  <a:txBody>
                    <a:bodyPr/>
                    <a:lstStyle/>
                    <a:p>
                      <a:pPr algn="ctr">
                        <a:defRPr sz="1400" b="1">
                          <a:solidFill>
                            <a:srgbClr val="FFFFFF"/>
                          </a:solidFill>
                        </a:defRPr>
                      </a:pPr>
                      <a:r>
                        <a:t>581</a:t>
                      </a:r>
                    </a:p>
                  </a:txBody>
                  <a:tcPr>
                    <a:solidFill>
                      <a:srgbClr val="2E86E8"/>
                    </a:solidFill>
                  </a:tcPr>
                </a:tc>
                <a:extLst>
                  <a:ext uri="{0D108BD9-81ED-4DB2-BD59-A6C34878D82A}">
                    <a16:rowId xmlns:a16="http://schemas.microsoft.com/office/drawing/2014/main" val="10004"/>
                  </a:ext>
                </a:extLst>
              </a:tr>
              <a:tr h="548640">
                <a:tc>
                  <a:txBody>
                    <a:bodyPr/>
                    <a:lstStyle/>
                    <a:p>
                      <a:pPr algn="l">
                        <a:defRPr sz="1400"/>
                      </a:pPr>
                      <a:r>
                        <a:t>Human</a:t>
                      </a:r>
                    </a:p>
                  </a:txBody>
                  <a:tcPr>
                    <a:solidFill>
                      <a:srgbClr val="FFFFFF"/>
                    </a:solidFill>
                  </a:tcPr>
                </a:tc>
                <a:tc>
                  <a:txBody>
                    <a:bodyPr/>
                    <a:lstStyle/>
                    <a:p>
                      <a:pPr algn="ctr">
                        <a:defRPr sz="1400"/>
                      </a:pPr>
                      <a:r>
                        <a:t>7456</a:t>
                      </a:r>
                    </a:p>
                  </a:txBody>
                  <a:tcPr>
                    <a:solidFill>
                      <a:srgbClr val="FFFFFF"/>
                    </a:solidFill>
                  </a:tcPr>
                </a:tc>
                <a:tc>
                  <a:txBody>
                    <a:bodyPr/>
                    <a:lstStyle/>
                    <a:p>
                      <a:pPr algn="ctr">
                        <a:defRPr sz="1400"/>
                      </a:pPr>
                      <a:r>
                        <a:t>31</a:t>
                      </a:r>
                    </a:p>
                  </a:txBody>
                  <a:tcPr>
                    <a:solidFill>
                      <a:srgbClr val="FFFFFF"/>
                    </a:solidFill>
                  </a:tcPr>
                </a:tc>
                <a:tc>
                  <a:txBody>
                    <a:bodyPr/>
                    <a:lstStyle/>
                    <a:p>
                      <a:pPr algn="ctr">
                        <a:defRPr sz="1400"/>
                      </a:pPr>
                      <a:r>
                        <a:t>368</a:t>
                      </a:r>
                    </a:p>
                  </a:txBody>
                  <a:tcPr>
                    <a:solidFill>
                      <a:srgbClr val="FFFFFF"/>
                    </a:solidFill>
                  </a:tcPr>
                </a:tc>
                <a:tc>
                  <a:txBody>
                    <a:bodyPr/>
                    <a:lstStyle/>
                    <a:p>
                      <a:pPr algn="ctr">
                        <a:defRPr sz="1400"/>
                      </a:pPr>
                      <a:r>
                        <a:t>-3</a:t>
                      </a:r>
                    </a:p>
                  </a:txBody>
                  <a:tcPr>
                    <a:solidFill>
                      <a:srgbClr val="FFFFFF"/>
                    </a:solidFill>
                  </a:tcPr>
                </a:tc>
                <a:tc>
                  <a:txBody>
                    <a:bodyPr/>
                    <a:lstStyle/>
                    <a:p>
                      <a:pPr algn="ctr">
                        <a:defRPr sz="1400"/>
                      </a:pPr>
                      <a:r>
                        <a:t>18900</a:t>
                      </a:r>
                    </a:p>
                  </a:txBody>
                  <a:tcPr>
                    <a:solidFill>
                      <a:srgbClr val="FFFFFF"/>
                    </a:solidFill>
                  </a:tcPr>
                </a:tc>
                <a:tc>
                  <a:txBody>
                    <a:bodyPr/>
                    <a:lstStyle/>
                    <a:p>
                      <a:pPr algn="ctr">
                        <a:defRPr sz="1400"/>
                      </a:pPr>
                      <a:r>
                        <a:t>28010</a:t>
                      </a:r>
                    </a:p>
                  </a:txBody>
                  <a:tcPr>
                    <a:solidFill>
                      <a:srgbClr val="FFFFFF"/>
                    </a:solidFill>
                  </a:tcPr>
                </a:tc>
                <a:tc>
                  <a:txBody>
                    <a:bodyPr/>
                    <a:lstStyle/>
                    <a:p>
                      <a:pPr algn="ctr">
                        <a:defRPr sz="1400"/>
                      </a:pPr>
                      <a:r>
                        <a:t>3690</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4892040"/>
            <a:ext cx="11155680" cy="1371600"/>
          </a:xfrm>
          <a:prstGeom prst="rect">
            <a:avLst/>
          </a:prstGeom>
          <a:noFill/>
        </p:spPr>
        <p:txBody>
          <a:bodyPr wrap="none">
            <a:spAutoFit/>
          </a:bodyPr>
          <a:lstStyle/>
          <a:p>
            <a:pPr>
              <a:lnSpc>
                <a:spcPct val="120000"/>
              </a:lnSpc>
              <a:defRPr sz="1550" i="1">
                <a:solidFill>
                  <a:srgbClr val="6B7480"/>
                </a:solidFill>
              </a:defRPr>
            </a:pPr>
            <a:r>
              <a:t>DQN beats prior learned RL methods (Sarsa, Contingency) on all 7 games, using only raw pixels vs their hand-engineered features. DQN exceeds human performance on Breakout, Enduro, and Pong; it trails humans on Q*bert, Seaquest, and Space Invaders — games needing long-horizon strategy.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13</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6. RESULTS</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Training Stability: Reward vs. Predicted Q-Value</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400"/>
              </a:spcAft>
              <a:defRPr sz="1800" b="0">
                <a:solidFill>
                  <a:srgbClr val="1E242B"/>
                </a:solidFill>
                <a:latin typeface="Calibri"/>
              </a:defRPr>
            </a:pPr>
            <a:r>
              <a:t>Challenge: unlike supervised learning, RL has no simple train/validation loss to track progress.</a:t>
            </a:r>
          </a:p>
          <a:p>
            <a:pPr>
              <a:lnSpc>
                <a:spcPct val="115000"/>
              </a:lnSpc>
              <a:spcAft>
                <a:spcPts val="1400"/>
              </a:spcAft>
              <a:defRPr sz="1800" b="0">
                <a:solidFill>
                  <a:srgbClr val="1E242B"/>
                </a:solidFill>
                <a:latin typeface="Calibri"/>
              </a:defRPr>
            </a:pPr>
            <a:r>
              <a:t>Average reward per episode during training is very noisy — small weight changes cause large shifts in which states the policy visits.</a:t>
            </a:r>
          </a:p>
          <a:p>
            <a:pPr>
              <a:lnSpc>
                <a:spcPct val="115000"/>
              </a:lnSpc>
              <a:spcAft>
                <a:spcPts val="1400"/>
              </a:spcAft>
              <a:defRPr sz="1800" b="0">
                <a:solidFill>
                  <a:srgbClr val="1E242B"/>
                </a:solidFill>
                <a:latin typeface="Calibri"/>
              </a:defRPr>
            </a:pPr>
            <a:r>
              <a:t>A more stable diagnostic: track the average of the network's own predicted max Q-value on a fixed held-out set of states.</a:t>
            </a:r>
          </a:p>
          <a:p>
            <a:pPr>
              <a:lnSpc>
                <a:spcPct val="115000"/>
              </a:lnSpc>
              <a:spcAft>
                <a:spcPts val="1400"/>
              </a:spcAft>
              <a:defRPr sz="1800" b="0">
                <a:solidFill>
                  <a:srgbClr val="1E242B"/>
                </a:solidFill>
                <a:latin typeface="Calibri"/>
              </a:defRPr>
            </a:pPr>
            <a:r>
              <a:t>Result: predicted Q rises smoothly and monotonically across training epochs on all seven games, with no observed divergence — evidence that experience replay + minibatch SGD trains large non-linear Q-networks stably, despite no theoretical convergence guarantee for this setting.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14</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6. RESULTS</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Interpretability: Visualizing the Learned Value Function</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400"/>
              </a:spcAft>
              <a:defRPr sz="1800" b="0">
                <a:solidFill>
                  <a:srgbClr val="1E242B"/>
                </a:solidFill>
                <a:latin typeface="Calibri"/>
              </a:defRPr>
            </a:pPr>
            <a:r>
              <a:t>Case study on Seaquest (Figure 3, Section 5.2).</a:t>
            </a:r>
          </a:p>
          <a:p>
            <a:pPr>
              <a:lnSpc>
                <a:spcPct val="115000"/>
              </a:lnSpc>
              <a:spcAft>
                <a:spcPts val="1400"/>
              </a:spcAft>
              <a:defRPr sz="1800" b="0">
                <a:solidFill>
                  <a:srgbClr val="1E242B"/>
                </a:solidFill>
                <a:latin typeface="Calibri"/>
              </a:defRPr>
            </a:pPr>
            <a:r>
              <a:t>Point A — predicted value jumps the instant an enemy appears on screen (agent recognizes threat/opportunity).</a:t>
            </a:r>
          </a:p>
          <a:p>
            <a:pPr>
              <a:lnSpc>
                <a:spcPct val="115000"/>
              </a:lnSpc>
              <a:spcAft>
                <a:spcPts val="1400"/>
              </a:spcAft>
              <a:defRPr sz="1800" b="0">
                <a:solidFill>
                  <a:srgbClr val="1E242B"/>
                </a:solidFill>
                <a:latin typeface="Calibri"/>
              </a:defRPr>
            </a:pPr>
            <a:r>
              <a:t>Point B — predicted value peaks just as the agent's torpedo is about to hit the enemy.</a:t>
            </a:r>
          </a:p>
          <a:p>
            <a:pPr>
              <a:lnSpc>
                <a:spcPct val="115000"/>
              </a:lnSpc>
              <a:spcAft>
                <a:spcPts val="1400"/>
              </a:spcAft>
              <a:defRPr sz="1800" b="0">
                <a:solidFill>
                  <a:srgbClr val="1E242B"/>
                </a:solidFill>
                <a:latin typeface="Calibri"/>
              </a:defRPr>
            </a:pPr>
            <a:r>
              <a:t>Point C — value falls back to baseline once the enemy disappears.</a:t>
            </a:r>
          </a:p>
          <a:p>
            <a:pPr>
              <a:lnSpc>
                <a:spcPct val="115000"/>
              </a:lnSpc>
              <a:spcAft>
                <a:spcPts val="1400"/>
              </a:spcAft>
              <a:defRPr sz="1800" b="0">
                <a:solidFill>
                  <a:srgbClr val="1E242B"/>
                </a:solidFill>
                <a:latin typeface="Calibri"/>
              </a:defRPr>
            </a:pPr>
            <a:r>
              <a:t>Significance: shows the network learned a semantically meaningful value function tied to game events, purely from pixels and reward — not just memorized patterns.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15</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6. SIGNIFICANCE</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Why This Result Mattered for RL Research</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400"/>
              </a:spcAft>
              <a:defRPr sz="1800" b="0">
                <a:solidFill>
                  <a:srgbClr val="1E242B"/>
                </a:solidFill>
                <a:latin typeface="Calibri"/>
              </a:defRPr>
            </a:pPr>
            <a:r>
              <a:t>First demonstration that a single deep neural network can learn control policies end-to-end from raw pixels across diverse tasks — no hand-crafted features, no game-specific engineering.</a:t>
            </a:r>
          </a:p>
          <a:p>
            <a:pPr>
              <a:lnSpc>
                <a:spcPct val="115000"/>
              </a:lnSpc>
              <a:spcAft>
                <a:spcPts val="1400"/>
              </a:spcAft>
              <a:defRPr sz="1800" b="0">
                <a:solidFill>
                  <a:srgbClr val="1E242B"/>
                </a:solidFill>
                <a:latin typeface="Calibri"/>
              </a:defRPr>
            </a:pPr>
            <a:r>
              <a:t>Refuted the prevailing belief (post TD-Gammon) that combining RL with non-linear function approximators like neural nets was fundamentally unstable/prone to divergence.</a:t>
            </a:r>
          </a:p>
          <a:p>
            <a:pPr>
              <a:lnSpc>
                <a:spcPct val="115000"/>
              </a:lnSpc>
              <a:spcAft>
                <a:spcPts val="1400"/>
              </a:spcAft>
              <a:defRPr sz="1800" b="0">
                <a:solidFill>
                  <a:srgbClr val="1E242B"/>
                </a:solidFill>
                <a:latin typeface="Calibri"/>
              </a:defRPr>
            </a:pPr>
            <a:r>
              <a:t>Demonstrated a practical, scalable recipe (experience replay + SGD + off-policy Q-learning) — this recipe became the direct ancestor of the 2015 Nature DQN paper and the modern deep-RL field (A3C, Rainbow, etc.).</a:t>
            </a:r>
          </a:p>
          <a:p>
            <a:pPr>
              <a:lnSpc>
                <a:spcPct val="115000"/>
              </a:lnSpc>
              <a:spcAft>
                <a:spcPts val="1400"/>
              </a:spcAft>
              <a:defRPr sz="1800" b="0">
                <a:solidFill>
                  <a:srgbClr val="1E242B"/>
                </a:solidFill>
                <a:latin typeface="Calibri"/>
              </a:defRPr>
            </a:pPr>
            <a:r>
              <a:t>Established Atari/ALE as the standard benchmark suite for deep RL research for the following decade.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16</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7. LIMITATIONS</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Limitations &amp; Open Questions Noted by the Authors</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900"/>
              </a:spcAft>
              <a:defRPr sz="1650" b="0">
                <a:solidFill>
                  <a:srgbClr val="1E242B"/>
                </a:solidFill>
                <a:latin typeface="Calibri"/>
              </a:defRPr>
            </a:pPr>
            <a:r>
              <a:t>Long-horizon / sparse-strategy games remain hard: Q*bert, Seaquest, Space Invaders are far below human performance — attributed to the need for strategies that extend over long time scales.</a:t>
            </a:r>
          </a:p>
          <a:p>
            <a:pPr>
              <a:lnSpc>
                <a:spcPct val="115000"/>
              </a:lnSpc>
              <a:spcAft>
                <a:spcPts val="900"/>
              </a:spcAft>
              <a:defRPr sz="1650" b="0">
                <a:solidFill>
                  <a:srgbClr val="1E242B"/>
                </a:solidFill>
                <a:latin typeface="Calibri"/>
              </a:defRPr>
            </a:pPr>
            <a:r>
              <a:t>Reward clipping (+1/−1/0) discards reward magnitude information, which the authors explicitly note 'could affect the performance of our agent since it cannot differentiate between rewards of different magnitude.'</a:t>
            </a:r>
          </a:p>
          <a:p>
            <a:pPr>
              <a:lnSpc>
                <a:spcPct val="115000"/>
              </a:lnSpc>
              <a:spcAft>
                <a:spcPts val="900"/>
              </a:spcAft>
              <a:defRPr sz="1650" b="0">
                <a:solidFill>
                  <a:srgbClr val="1E242B"/>
                </a:solidFill>
                <a:latin typeface="Calibri"/>
              </a:defRPr>
            </a:pPr>
            <a:r>
              <a:t>Replay memory is a simple finite FIFO buffer, sampled uniformly at random — authors flag this as limited: it 'does not differentiate important transitions' and always overwrites old (possibly valuable) transitions once memory is full.</a:t>
            </a:r>
          </a:p>
          <a:p>
            <a:pPr>
              <a:lnSpc>
                <a:spcPct val="115000"/>
              </a:lnSpc>
              <a:spcAft>
                <a:spcPts val="900"/>
              </a:spcAft>
              <a:defRPr sz="1650" b="0">
                <a:solidFill>
                  <a:srgbClr val="1E242B"/>
                </a:solidFill>
                <a:latin typeface="Calibri"/>
              </a:defRPr>
            </a:pPr>
            <a:r>
              <a:t>Suggest (but do not implement) a more sophisticated sampling strategy resembling prioritized sweeping — an explicit open question left for future work.</a:t>
            </a:r>
          </a:p>
          <a:p>
            <a:pPr>
              <a:lnSpc>
                <a:spcPct val="115000"/>
              </a:lnSpc>
              <a:spcAft>
                <a:spcPts val="900"/>
              </a:spcAft>
              <a:defRPr sz="1650" b="0">
                <a:solidFill>
                  <a:srgbClr val="1E242B"/>
                </a:solidFill>
                <a:latin typeface="Calibri"/>
              </a:defRPr>
            </a:pPr>
            <a:r>
              <a:t>No theoretical convergence guarantee for Q-learning with a non-linear function approximator — stability is shown empirically (smooth Q-curves, no divergence), not proven.</a:t>
            </a:r>
          </a:p>
          <a:p>
            <a:pPr>
              <a:lnSpc>
                <a:spcPct val="115000"/>
              </a:lnSpc>
              <a:spcAft>
                <a:spcPts val="900"/>
              </a:spcAft>
              <a:defRPr sz="1650" b="0">
                <a:solidFill>
                  <a:srgbClr val="1E242B"/>
                </a:solidFill>
                <a:latin typeface="Calibri"/>
              </a:defRPr>
            </a:pPr>
            <a:r>
              <a:t>Evaluated on only seven games — generality across the full Atari suite (and beyond) was not yet demonstrated.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17</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8. CRITICAL REFLECTION</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Impact &amp; Potential Future Work</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000"/>
              </a:spcAft>
              <a:defRPr sz="1650" b="0">
                <a:solidFill>
                  <a:srgbClr val="1E242B"/>
                </a:solidFill>
                <a:latin typeface="Calibri"/>
              </a:defRPr>
            </a:pPr>
            <a:r>
              <a:t>Historical impact: this 2013 arXiv paper (extended in Nature, 2015) is widely regarded as the paper that launched the modern deep RL era, directly inspiring AlphaGo's value networks and countless successor algorithms (Double DQN, Dueling DQN, Rainbow, Prioritized Experience Replay).</a:t>
            </a:r>
          </a:p>
          <a:p>
            <a:pPr>
              <a:lnSpc>
                <a:spcPct val="115000"/>
              </a:lnSpc>
              <a:spcAft>
                <a:spcPts val="1000"/>
              </a:spcAft>
              <a:defRPr sz="1650" b="0">
                <a:solidFill>
                  <a:srgbClr val="1E242B"/>
                </a:solidFill>
                <a:latin typeface="Calibri"/>
              </a:defRPr>
            </a:pPr>
            <a:r>
              <a:t>Strength: the generality claim (one architecture, one hyperparameter set, seven games) is what made this a landmark rather than an incremental result — it suggested a path toward general-purpose learning agents.</a:t>
            </a:r>
          </a:p>
          <a:p>
            <a:pPr>
              <a:lnSpc>
                <a:spcPct val="115000"/>
              </a:lnSpc>
              <a:spcAft>
                <a:spcPts val="1000"/>
              </a:spcAft>
              <a:defRPr sz="1650" b="0">
                <a:solidFill>
                  <a:srgbClr val="1E242B"/>
                </a:solidFill>
                <a:latin typeface="Calibri"/>
              </a:defRPr>
            </a:pPr>
            <a:r>
              <a:t>Weakness in hindsight: reward clipping and frame-stacking are blunt instruments; sample efficiency is poor (10M frames, i.e. tens of hours of simulated play, to learn simple games a human masters in minutes) — a gap later work on sample efficiency and model-based RL tried to close.</a:t>
            </a:r>
          </a:p>
          <a:p>
            <a:pPr>
              <a:lnSpc>
                <a:spcPct val="115000"/>
              </a:lnSpc>
              <a:spcAft>
                <a:spcPts val="1000"/>
              </a:spcAft>
              <a:defRPr sz="1650" b="0">
                <a:solidFill>
                  <a:srgbClr val="1E242B"/>
                </a:solidFill>
                <a:latin typeface="Calibri"/>
              </a:defRPr>
            </a:pPr>
            <a:r>
              <a:t>Future work directions implied/enabled by this paper: prioritized experience replay (authors' own suggestion, later realized by Schaul et al. 2015); reducing Q-value overestimation (Double Q-learning); target networks for further stability (added in the 2015 Nature version); extending beyond Atari to continuous control and 3D/embodied environments.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18</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9. ADDITIONAL POINTS</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Additional Points Worth Mentioning</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200"/>
              </a:spcAft>
              <a:defRPr sz="1700" b="0">
                <a:solidFill>
                  <a:srgbClr val="1E242B"/>
                </a:solidFill>
                <a:latin typeface="Calibri"/>
              </a:defRPr>
            </a:pPr>
            <a:r>
              <a:t>Naming note: this 2013 paper coined the term 'Deep Q-Network (DQN)' and is distinct from (but the direct precursor to) the 2015 Nature paper 'Human-level control through deep reinforcement learning,' which added target networks and tested on 49 games.</a:t>
            </a:r>
          </a:p>
          <a:p>
            <a:pPr>
              <a:lnSpc>
                <a:spcPct val="115000"/>
              </a:lnSpc>
              <a:spcAft>
                <a:spcPts val="1200"/>
              </a:spcAft>
              <a:defRPr sz="1700" b="0">
                <a:solidFill>
                  <a:srgbClr val="1E242B"/>
                </a:solidFill>
                <a:latin typeface="Calibri"/>
              </a:defRPr>
            </a:pPr>
            <a:r>
              <a:t>Fair-comparison caveat: baselines (Sarsa, Contingency) used significant prior knowledge — hand-designed features, background subtraction, per-color channels — while DQN used only raw RGB pixels, making DQN's margin of victory even more notable.</a:t>
            </a:r>
          </a:p>
          <a:p>
            <a:pPr>
              <a:lnSpc>
                <a:spcPct val="115000"/>
              </a:lnSpc>
              <a:spcAft>
                <a:spcPts val="1200"/>
              </a:spcAft>
              <a:defRPr sz="1700" b="0">
                <a:solidFill>
                  <a:srgbClr val="1E242B"/>
                </a:solidFill>
                <a:latin typeface="Calibri"/>
              </a:defRPr>
            </a:pPr>
            <a:r>
              <a:t>HNeat comparison (evolutionary neuro-evolution) is evaluated differently (best single deterministic episode vs DQN's ε-greedy average) — an apples-to-oranges caveat worth noting if asked about Table 1's lower rows.</a:t>
            </a:r>
          </a:p>
          <a:p>
            <a:pPr>
              <a:lnSpc>
                <a:spcPct val="115000"/>
              </a:lnSpc>
              <a:spcAft>
                <a:spcPts val="1200"/>
              </a:spcAft>
              <a:defRPr sz="1700" b="0">
                <a:solidFill>
                  <a:srgbClr val="1E242B"/>
                </a:solidFill>
                <a:latin typeface="Calibri"/>
              </a:defRPr>
            </a:pPr>
            <a:r>
              <a:t>The related-work section shows this wasn't the first attempt to merge deep learning and RL — NFQ (Riedmiller 2005) is the closest prior work — but DQN's contribution was scaling this end-to-end to raw vision with SGD instead of batch RPROP updates.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19</a:t>
            </a:r>
          </a:p>
        </p:txBody>
      </p:sp>
      <p:sp>
        <p:nvSpPr>
          <p:cNvPr id="4" name="TextBox 3"/>
          <p:cNvSpPr txBox="1"/>
          <p:nvPr/>
        </p:nvSpPr>
        <p:spPr>
          <a:xfrm>
            <a:off x="548640" y="164592"/>
            <a:ext cx="7315200" cy="365760"/>
          </a:xfrm>
          <a:prstGeom prst="rect">
            <a:avLst/>
          </a:prstGeom>
          <a:noFill/>
        </p:spPr>
        <p:txBody>
          <a:bodyPr wrap="none">
            <a:spAutoFit/>
          </a:bodyPr>
          <a:lstStyle/>
          <a:p>
            <a:pPr>
              <a:defRPr sz="1300" b="1">
                <a:solidFill>
                  <a:srgbClr val="2E86E8"/>
                </a:solidFill>
                <a:latin typeface="Calibri"/>
              </a:defRPr>
            </a:pPr>
            <a:r>
              <a:t>WRAP-UP</a:t>
            </a:r>
          </a:p>
        </p:txBody>
      </p:sp>
      <p:sp>
        <p:nvSpPr>
          <p:cNvPr id="5" name="TextBox 4"/>
          <p:cNvSpPr txBox="1"/>
          <p:nvPr/>
        </p:nvSpPr>
        <p:spPr>
          <a:xfrm>
            <a:off x="548640" y="320040"/>
            <a:ext cx="11094415" cy="914400"/>
          </a:xfrm>
          <a:prstGeom prst="rect">
            <a:avLst/>
          </a:prstGeom>
          <a:noFill/>
        </p:spPr>
        <p:txBody>
          <a:bodyPr wrap="square">
            <a:spAutoFit/>
          </a:bodyPr>
          <a:lstStyle/>
          <a:p>
            <a:pPr>
              <a:defRPr sz="3200" b="1">
                <a:solidFill>
                  <a:srgbClr val="121A2B"/>
                </a:solidFill>
                <a:latin typeface="Calibri"/>
              </a:defRPr>
            </a:pPr>
            <a:r>
              <a:t>Summary</a:t>
            </a:r>
          </a:p>
        </p:txBody>
      </p:sp>
      <p:sp>
        <p:nvSpPr>
          <p:cNvPr id="6" name="TextBox 5"/>
          <p:cNvSpPr txBox="1"/>
          <p:nvPr/>
        </p:nvSpPr>
        <p:spPr>
          <a:xfrm>
            <a:off x="640080" y="1371600"/>
            <a:ext cx="10881360" cy="4846320"/>
          </a:xfrm>
          <a:prstGeom prst="rect">
            <a:avLst/>
          </a:prstGeom>
          <a:noFill/>
        </p:spPr>
        <p:txBody>
          <a:bodyPr wrap="square">
            <a:spAutoFit/>
          </a:bodyPr>
          <a:lstStyle/>
          <a:p>
            <a:pPr>
              <a:lnSpc>
                <a:spcPct val="115000"/>
              </a:lnSpc>
              <a:spcAft>
                <a:spcPts val="1100"/>
              </a:spcAft>
              <a:defRPr sz="1750" b="0">
                <a:solidFill>
                  <a:srgbClr val="1E242B"/>
                </a:solidFill>
                <a:latin typeface="Calibri"/>
              </a:defRPr>
            </a:pPr>
            <a:r>
              <a:t>Objective: learn Atari-playing policies end-to-end from raw pixels, with one architecture for all games.</a:t>
            </a:r>
          </a:p>
          <a:p>
            <a:pPr>
              <a:lnSpc>
                <a:spcPct val="115000"/>
              </a:lnSpc>
              <a:spcAft>
                <a:spcPts val="1100"/>
              </a:spcAft>
              <a:defRPr sz="1750" b="0">
                <a:solidFill>
                  <a:srgbClr val="1E242B"/>
                </a:solidFill>
                <a:latin typeface="Calibri"/>
              </a:defRPr>
            </a:pPr>
            <a:r>
              <a:t>Key techniques: CNN as Q-function approximator + experience replay + off-policy Q-learning + SGD (RMSProp).</a:t>
            </a:r>
          </a:p>
          <a:p>
            <a:pPr>
              <a:lnSpc>
                <a:spcPct val="115000"/>
              </a:lnSpc>
              <a:spcAft>
                <a:spcPts val="1100"/>
              </a:spcAft>
              <a:defRPr sz="1750" b="0">
                <a:solidFill>
                  <a:srgbClr val="1E242B"/>
                </a:solidFill>
                <a:latin typeface="Calibri"/>
              </a:defRPr>
            </a:pPr>
            <a:r>
              <a:t>Setup: ALE, 7 Atari games, 10M training frames, ε-greedy exploration, reward clipping, frame-skipping.</a:t>
            </a:r>
          </a:p>
          <a:p>
            <a:pPr>
              <a:lnSpc>
                <a:spcPct val="115000"/>
              </a:lnSpc>
              <a:spcAft>
                <a:spcPts val="1100"/>
              </a:spcAft>
              <a:defRPr sz="1750" b="0">
                <a:solidFill>
                  <a:srgbClr val="1E242B"/>
                </a:solidFill>
                <a:latin typeface="Calibri"/>
              </a:defRPr>
            </a:pPr>
            <a:r>
              <a:t>Results: beat all prior RL methods on all 7 games; superhuman on 3; smooth, stable training despite no convergence guarantees.</a:t>
            </a:r>
          </a:p>
          <a:p>
            <a:pPr>
              <a:lnSpc>
                <a:spcPct val="115000"/>
              </a:lnSpc>
              <a:spcAft>
                <a:spcPts val="1100"/>
              </a:spcAft>
              <a:defRPr sz="1750" b="0">
                <a:solidFill>
                  <a:srgbClr val="1E242B"/>
                </a:solidFill>
                <a:latin typeface="Calibri"/>
              </a:defRPr>
            </a:pPr>
            <a:r>
              <a:t>Limitations: long-horizon games remain hard; naive replay buffer; reward clipping loses information.</a:t>
            </a:r>
          </a:p>
          <a:p>
            <a:pPr>
              <a:lnSpc>
                <a:spcPct val="115000"/>
              </a:lnSpc>
              <a:spcAft>
                <a:spcPts val="1100"/>
              </a:spcAft>
              <a:defRPr sz="1750" b="0">
                <a:solidFill>
                  <a:srgbClr val="1E242B"/>
                </a:solidFill>
                <a:latin typeface="Calibri"/>
              </a:defRPr>
            </a:pPr>
            <a:r>
              <a:t>Legacy: this paper is the founding document of the modern deep reinforcement learning field.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1695" cy="6858000"/>
          </a:xfrm>
          <a:prstGeom prst="rect">
            <a:avLst/>
          </a:prstGeom>
          <a:solidFill>
            <a:srgbClr val="12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0" y="6492240"/>
            <a:ext cx="640080" cy="274320"/>
          </a:xfrm>
          <a:prstGeom prst="rect">
            <a:avLst/>
          </a:prstGeom>
          <a:noFill/>
        </p:spPr>
        <p:txBody>
          <a:bodyPr wrap="none">
            <a:spAutoFit/>
          </a:bodyPr>
          <a:lstStyle/>
          <a:p>
            <a:pPr>
              <a:defRPr sz="1100">
                <a:solidFill>
                  <a:srgbClr val="6B7480"/>
                </a:solidFill>
              </a:defRPr>
            </a:pPr>
            <a:r>
              <a:t>20</a:t>
            </a:r>
          </a:p>
        </p:txBody>
      </p:sp>
      <p:sp>
        <p:nvSpPr>
          <p:cNvPr id="5" name="TextBox 4"/>
          <p:cNvSpPr txBox="1"/>
          <p:nvPr/>
        </p:nvSpPr>
        <p:spPr>
          <a:xfrm>
            <a:off x="731520" y="2743200"/>
            <a:ext cx="10698480" cy="1097280"/>
          </a:xfrm>
          <a:prstGeom prst="rect">
            <a:avLst/>
          </a:prstGeom>
          <a:noFill/>
        </p:spPr>
        <p:txBody>
          <a:bodyPr wrap="none">
            <a:spAutoFit/>
          </a:bodyPr>
          <a:lstStyle/>
          <a:p>
            <a:pPr>
              <a:defRPr sz="4000" b="1">
                <a:solidFill>
                  <a:srgbClr val="FFFFFF"/>
                </a:solidFill>
              </a:defRPr>
            </a:pPr>
            <a:r>
              <a:t>Thank You — Questions?</a:t>
            </a:r>
          </a:p>
        </p:txBody>
      </p:sp>
      <p:sp>
        <p:nvSpPr>
          <p:cNvPr id="6" name="TextBox 5"/>
          <p:cNvSpPr txBox="1"/>
          <p:nvPr/>
        </p:nvSpPr>
        <p:spPr>
          <a:xfrm>
            <a:off x="731520" y="3657600"/>
            <a:ext cx="10698480" cy="548640"/>
          </a:xfrm>
          <a:prstGeom prst="rect">
            <a:avLst/>
          </a:prstGeom>
          <a:noFill/>
        </p:spPr>
        <p:txBody>
          <a:bodyPr wrap="none">
            <a:spAutoFit/>
          </a:bodyPr>
          <a:lstStyle/>
          <a:p>
            <a:pPr>
              <a:defRPr sz="1500">
                <a:solidFill>
                  <a:srgbClr val="C9D3E0"/>
                </a:solidFill>
              </a:defRPr>
            </a:pPr>
            <a:r>
              <a:t>Mnih et al., "Playing Atari with Deep Reinforcement Learning," arXiv:1312.5602 (2013)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3731</Words>
  <Application>Microsoft Macintosh PowerPoint</Application>
  <PresentationFormat>Widescreen</PresentationFormat>
  <Paragraphs>234</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Thoomu Vishnuvardhan Reddy</cp:lastModifiedBy>
  <cp:revision>3</cp:revision>
  <dcterms:created xsi:type="dcterms:W3CDTF">2013-01-27T09:14:16Z</dcterms:created>
  <dcterms:modified xsi:type="dcterms:W3CDTF">2026-08-29T05:37:14Z</dcterms:modified>
  <cp:category/>
</cp:coreProperties>
</file>